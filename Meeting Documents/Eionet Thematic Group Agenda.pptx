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7"/>
  </p:notesMasterIdLst>
  <p:sldIdLst>
    <p:sldId id="895" r:id="rId2"/>
    <p:sldId id="897" r:id="rId3"/>
    <p:sldId id="898" r:id="rId4"/>
    <p:sldId id="899" r:id="rId5"/>
    <p:sldId id="90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114" y="7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customXml" Target="../customXml/item4.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customXml" Target="../customXml/item3.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 Id="rId14" Type="http://schemas.openxmlformats.org/officeDocument/2006/relationships/customXml" Target="../customXml/item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ne Djurhuus" userId="0bcb62a1-eba1-4abb-82ee-8067ef961803" providerId="ADAL" clId="{A66B22BF-3ECB-440B-84D1-C93321C9DD49}"/>
    <pc:docChg chg="undo custSel addSld delSld modSld">
      <pc:chgData name="Sune Djurhuus" userId="0bcb62a1-eba1-4abb-82ee-8067ef961803" providerId="ADAL" clId="{A66B22BF-3ECB-440B-84D1-C93321C9DD49}" dt="2026-10-22T07:23:59.697" v="147" actId="798"/>
      <pc:docMkLst>
        <pc:docMk/>
      </pc:docMkLst>
      <pc:sldChg chg="add del">
        <pc:chgData name="Sune Djurhuus" userId="0bcb62a1-eba1-4abb-82ee-8067ef961803" providerId="ADAL" clId="{A66B22BF-3ECB-440B-84D1-C93321C9DD49}" dt="2026-09-29T06:55:36.535" v="1" actId="2696"/>
        <pc:sldMkLst>
          <pc:docMk/>
          <pc:sldMk cId="1457920150" sldId="895"/>
        </pc:sldMkLst>
      </pc:sldChg>
      <pc:sldChg chg="modSp mod">
        <pc:chgData name="Sune Djurhuus" userId="0bcb62a1-eba1-4abb-82ee-8067ef961803" providerId="ADAL" clId="{A66B22BF-3ECB-440B-84D1-C93321C9DD49}" dt="2026-10-22T07:23:59.697" v="147" actId="798"/>
        <pc:sldMkLst>
          <pc:docMk/>
          <pc:sldMk cId="1437424983" sldId="898"/>
        </pc:sldMkLst>
        <pc:graphicFrameChg chg="modGraphic">
          <ac:chgData name="Sune Djurhuus" userId="0bcb62a1-eba1-4abb-82ee-8067ef961803" providerId="ADAL" clId="{A66B22BF-3ECB-440B-84D1-C93321C9DD49}" dt="2026-10-22T07:23:59.697" v="147" actId="798"/>
          <ac:graphicFrameMkLst>
            <pc:docMk/>
            <pc:sldMk cId="1437424983" sldId="898"/>
            <ac:graphicFrameMk id="8" creationId="{48C43EDA-53E4-0AC8-049B-74B11BE235EA}"/>
          </ac:graphicFrameMkLst>
        </pc:graphicFrameChg>
      </pc:sldChg>
      <pc:sldChg chg="modSp new mod">
        <pc:chgData name="Sune Djurhuus" userId="0bcb62a1-eba1-4abb-82ee-8067ef961803" providerId="ADAL" clId="{A66B22BF-3ECB-440B-84D1-C93321C9DD49}" dt="2026-09-29T12:54:29.567" v="136" actId="20577"/>
        <pc:sldMkLst>
          <pc:docMk/>
          <pc:sldMk cId="3596704524" sldId="900"/>
        </pc:sldMkLst>
        <pc:spChg chg="mod">
          <ac:chgData name="Sune Djurhuus" userId="0bcb62a1-eba1-4abb-82ee-8067ef961803" providerId="ADAL" clId="{A66B22BF-3ECB-440B-84D1-C93321C9DD49}" dt="2026-09-29T12:54:29.567" v="136" actId="20577"/>
          <ac:spMkLst>
            <pc:docMk/>
            <pc:sldMk cId="3596704524" sldId="900"/>
            <ac:spMk id="2" creationId="{1582C71A-736F-1FCB-1FA2-4CE1776AE465}"/>
          </ac:spMkLst>
        </pc:spChg>
        <pc:spChg chg="mod">
          <ac:chgData name="Sune Djurhuus" userId="0bcb62a1-eba1-4abb-82ee-8067ef961803" providerId="ADAL" clId="{A66B22BF-3ECB-440B-84D1-C93321C9DD49}" dt="2026-09-29T12:54:23.902" v="126" actId="255"/>
          <ac:spMkLst>
            <pc:docMk/>
            <pc:sldMk cId="3596704524" sldId="900"/>
            <ac:spMk id="3" creationId="{1712B1AE-4403-AF51-21F7-C28AE313D56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1B6F48-4A28-40C4-8500-F4F0E87D5657}" type="datetimeFigureOut">
              <a:rPr lang="en-GB" smtClean="0"/>
              <a:t>22/10/2026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FF1456-239F-4727-9C3A-345CC03A2335}" type="slidenum">
              <a:rPr lang="en-GB" smtClean="0"/>
              <a:t>‹#›</a:t>
            </a:fld>
            <a:endParaRPr lang="en-GB"/>
          </a:p>
        </p:txBody>
      </p:sp>
    </p:spTree>
    <p:extLst>
      <p:ext uri="{BB962C8B-B14F-4D97-AF65-F5344CB8AC3E}">
        <p14:creationId xmlns:p14="http://schemas.microsoft.com/office/powerpoint/2010/main" val="1918870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7201BC-94E4-4101-962D-54511777D224}"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671372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key message_image_Synthesis">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459545" y="99061"/>
            <a:ext cx="11418277" cy="581659"/>
          </a:xfrm>
          <a:prstGeom prst="rect">
            <a:avLst/>
          </a:prstGeom>
        </p:spPr>
        <p:txBody>
          <a:bodyPr/>
          <a:lstStyle>
            <a:lvl1pPr marL="0" indent="0">
              <a:buNone/>
              <a:defRPr sz="3446" b="1">
                <a:solidFill>
                  <a:schemeClr val="bg1"/>
                </a:solidFill>
              </a:defRPr>
            </a:lvl1pPr>
          </a:lstStyle>
          <a:p>
            <a:pPr lvl="0"/>
            <a:r>
              <a:rPr lang="en-US"/>
              <a:t>Slide title goes here</a:t>
            </a:r>
          </a:p>
        </p:txBody>
      </p:sp>
    </p:spTree>
    <p:extLst>
      <p:ext uri="{BB962C8B-B14F-4D97-AF65-F5344CB8AC3E}">
        <p14:creationId xmlns:p14="http://schemas.microsoft.com/office/powerpoint/2010/main" val="3862739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key message_image_Synthesis">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449384" y="190502"/>
            <a:ext cx="11418277" cy="524395"/>
          </a:xfrm>
          <a:prstGeom prst="rect">
            <a:avLst/>
          </a:prstGeom>
        </p:spPr>
        <p:txBody>
          <a:bodyPr/>
          <a:lstStyle>
            <a:lvl1pPr marL="0" indent="0">
              <a:buNone/>
              <a:defRPr sz="3200" b="1">
                <a:solidFill>
                  <a:schemeClr val="bg1"/>
                </a:solidFill>
                <a:latin typeface="Calibri" panose="020F0502020204030204" pitchFamily="34" charset="0"/>
                <a:cs typeface="Calibri" panose="020F0502020204030204" pitchFamily="34" charset="0"/>
              </a:defRPr>
            </a:lvl1pPr>
          </a:lstStyle>
          <a:p>
            <a:pPr lvl="0"/>
            <a:r>
              <a:rPr lang="en-US"/>
              <a:t>Slide title goes here</a:t>
            </a:r>
          </a:p>
        </p:txBody>
      </p:sp>
      <p:sp>
        <p:nvSpPr>
          <p:cNvPr id="6" name="Content Placeholder 5"/>
          <p:cNvSpPr>
            <a:spLocks noGrp="1"/>
          </p:cNvSpPr>
          <p:nvPr>
            <p:ph sz="quarter" idx="11"/>
          </p:nvPr>
        </p:nvSpPr>
        <p:spPr>
          <a:xfrm>
            <a:off x="449384" y="1147765"/>
            <a:ext cx="11418277" cy="4562475"/>
          </a:xfrm>
          <a:prstGeom prst="rect">
            <a:avLst/>
          </a:prstGeom>
        </p:spPr>
        <p:txBody>
          <a:bodyPr/>
          <a:lstStyle>
            <a:lvl1pPr>
              <a:defRPr sz="3600">
                <a:solidFill>
                  <a:srgbClr val="006654"/>
                </a:solidFill>
                <a:latin typeface="Calibri" panose="020F0502020204030204" pitchFamily="34" charset="0"/>
                <a:cs typeface="Calibri" panose="020F0502020204030204" pitchFamily="34" charset="0"/>
              </a:defRPr>
            </a:lvl1pPr>
            <a:lvl2pPr>
              <a:defRPr sz="3200">
                <a:solidFill>
                  <a:srgbClr val="006654"/>
                </a:solidFill>
                <a:latin typeface="Calibri" panose="020F0502020204030204" pitchFamily="34" charset="0"/>
                <a:cs typeface="Calibri" panose="020F0502020204030204" pitchFamily="34" charset="0"/>
              </a:defRPr>
            </a:lvl2pPr>
            <a:lvl3pPr>
              <a:defRPr sz="2800">
                <a:solidFill>
                  <a:srgbClr val="006654"/>
                </a:solidFill>
                <a:latin typeface="Calibri" panose="020F0502020204030204" pitchFamily="34" charset="0"/>
                <a:cs typeface="Calibri" panose="020F0502020204030204" pitchFamily="34" charset="0"/>
              </a:defRPr>
            </a:lvl3pPr>
            <a:lvl4pPr>
              <a:defRPr sz="2400">
                <a:solidFill>
                  <a:srgbClr val="006654"/>
                </a:solidFill>
                <a:latin typeface="Calibri" panose="020F0502020204030204" pitchFamily="34" charset="0"/>
                <a:cs typeface="Calibri" panose="020F0502020204030204" pitchFamily="34" charset="0"/>
              </a:defRPr>
            </a:lvl4pPr>
            <a:lvl5pPr>
              <a:defRPr sz="2400">
                <a:solidFill>
                  <a:srgbClr val="006654"/>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quarter" idx="12" hasCustomPrompt="1"/>
          </p:nvPr>
        </p:nvSpPr>
        <p:spPr>
          <a:xfrm>
            <a:off x="448734" y="6184901"/>
            <a:ext cx="4017433" cy="231775"/>
          </a:xfrm>
          <a:prstGeom prst="rect">
            <a:avLst/>
          </a:prstGeom>
        </p:spPr>
        <p:txBody>
          <a:bodyPr/>
          <a:lstStyle>
            <a:lvl1pPr marL="0" indent="0">
              <a:buNone/>
              <a:defRPr sz="1100" baseline="0">
                <a:solidFill>
                  <a:srgbClr val="006654"/>
                </a:solidFill>
                <a:latin typeface="Calibri" panose="020F0502020204030204" pitchFamily="34" charset="0"/>
                <a:cs typeface="Calibri" panose="020F0502020204030204" pitchFamily="34" charset="0"/>
              </a:defRPr>
            </a:lvl1pPr>
            <a:lvl2pPr marL="422053" indent="0">
              <a:buNone/>
              <a:defRPr/>
            </a:lvl2pPr>
            <a:lvl3pPr marL="844103" indent="0">
              <a:buNone/>
              <a:defRPr/>
            </a:lvl3pPr>
            <a:lvl4pPr marL="1266156" indent="0">
              <a:buNone/>
              <a:defRPr/>
            </a:lvl4pPr>
            <a:lvl5pPr marL="1688208" indent="0">
              <a:buNone/>
              <a:defRPr/>
            </a:lvl5pPr>
          </a:lstStyle>
          <a:p>
            <a:pPr lvl="0"/>
            <a:r>
              <a:rPr lang="en-US"/>
              <a:t>Source reference for illustration</a:t>
            </a:r>
          </a:p>
        </p:txBody>
      </p:sp>
    </p:spTree>
    <p:extLst>
      <p:ext uri="{BB962C8B-B14F-4D97-AF65-F5344CB8AC3E}">
        <p14:creationId xmlns:p14="http://schemas.microsoft.com/office/powerpoint/2010/main" val="3754315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key message_image_Synthesis">
    <p:bg>
      <p:bgPr>
        <a:solidFill>
          <a:schemeClr val="bg1"/>
        </a:soli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468000" y="36000"/>
            <a:ext cx="11246369" cy="676111"/>
          </a:xfrm>
          <a:prstGeom prst="rect">
            <a:avLst/>
          </a:prstGeom>
        </p:spPr>
        <p:txBody>
          <a:bodyPr/>
          <a:lstStyle>
            <a:lvl1pPr marL="0" indent="0">
              <a:buNone/>
              <a:defRPr sz="4000" b="1" baseline="0">
                <a:solidFill>
                  <a:schemeClr val="bg1"/>
                </a:solidFill>
                <a:latin typeface="Calibri" panose="020F0502020204030204" pitchFamily="34" charset="0"/>
                <a:cs typeface="Calibri" panose="020F0502020204030204" pitchFamily="34" charset="0"/>
              </a:defRPr>
            </a:lvl1pPr>
            <a:lvl2pPr marL="562737" indent="0">
              <a:buNone/>
              <a:defRPr/>
            </a:lvl2pPr>
            <a:lvl3pPr marL="1125472" indent="0">
              <a:buNone/>
              <a:defRPr/>
            </a:lvl3pPr>
            <a:lvl4pPr marL="1688207" indent="0">
              <a:buNone/>
              <a:defRPr/>
            </a:lvl4pPr>
            <a:lvl5pPr marL="2250944" indent="0">
              <a:buNone/>
              <a:defRPr/>
            </a:lvl5pPr>
          </a:lstStyle>
          <a:p>
            <a:pPr lvl="0"/>
            <a:r>
              <a:rPr lang="en-US"/>
              <a:t>Slide title goes here</a:t>
            </a:r>
          </a:p>
        </p:txBody>
      </p:sp>
      <p:sp>
        <p:nvSpPr>
          <p:cNvPr id="3" name="Content Placeholder 2"/>
          <p:cNvSpPr>
            <a:spLocks noGrp="1"/>
          </p:cNvSpPr>
          <p:nvPr>
            <p:ph sz="quarter" idx="13"/>
          </p:nvPr>
        </p:nvSpPr>
        <p:spPr>
          <a:xfrm>
            <a:off x="468313" y="1431925"/>
            <a:ext cx="11245850" cy="3759200"/>
          </a:xfrm>
          <a:prstGeom prst="rect">
            <a:avLst/>
          </a:prstGeom>
        </p:spPr>
        <p:txBody>
          <a:bodyPr/>
          <a:lstStyle>
            <a:lvl1pPr>
              <a:defRPr sz="4000">
                <a:solidFill>
                  <a:srgbClr val="008173"/>
                </a:solidFill>
                <a:latin typeface="Calibri" panose="020F0502020204030204" pitchFamily="34" charset="0"/>
                <a:cs typeface="Calibri" panose="020F0502020204030204" pitchFamily="34" charset="0"/>
              </a:defRPr>
            </a:lvl1pPr>
            <a:lvl2pPr>
              <a:defRPr sz="3600">
                <a:solidFill>
                  <a:srgbClr val="008173"/>
                </a:solidFill>
                <a:latin typeface="Calibri" panose="020F0502020204030204" pitchFamily="34" charset="0"/>
                <a:cs typeface="Calibri" panose="020F0502020204030204" pitchFamily="34" charset="0"/>
              </a:defRPr>
            </a:lvl2pPr>
            <a:lvl3pPr>
              <a:defRPr sz="3200">
                <a:solidFill>
                  <a:srgbClr val="008173"/>
                </a:solidFill>
                <a:latin typeface="Calibri" panose="020F0502020204030204" pitchFamily="34" charset="0"/>
                <a:cs typeface="Calibri" panose="020F0502020204030204" pitchFamily="34" charset="0"/>
              </a:defRPr>
            </a:lvl3pPr>
            <a:lvl4pPr>
              <a:defRPr sz="2800">
                <a:solidFill>
                  <a:srgbClr val="008173"/>
                </a:solidFill>
                <a:latin typeface="Calibri" panose="020F0502020204030204" pitchFamily="34" charset="0"/>
                <a:cs typeface="Calibri" panose="020F0502020204030204" pitchFamily="34" charset="0"/>
              </a:defRPr>
            </a:lvl4pPr>
            <a:lvl5pPr>
              <a:defRPr sz="2800">
                <a:solidFill>
                  <a:srgbClr val="008173"/>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quarter" idx="14" hasCustomPrompt="1"/>
          </p:nvPr>
        </p:nvSpPr>
        <p:spPr>
          <a:xfrm>
            <a:off x="598488" y="6250565"/>
            <a:ext cx="3683000" cy="274637"/>
          </a:xfrm>
          <a:prstGeom prst="rect">
            <a:avLst/>
          </a:prstGeom>
        </p:spPr>
        <p:txBody>
          <a:bodyPr/>
          <a:lstStyle>
            <a:lvl1pPr marL="0" indent="0">
              <a:buNone/>
              <a:defRPr sz="1100">
                <a:solidFill>
                  <a:srgbClr val="008173"/>
                </a:solidFill>
                <a:latin typeface="Calibri" panose="020F0502020204030204" pitchFamily="34" charset="0"/>
                <a:cs typeface="Calibri" panose="020F0502020204030204" pitchFamily="34" charset="0"/>
              </a:defRPr>
            </a:lvl1pPr>
            <a:lvl2pPr>
              <a:defRPr sz="1000">
                <a:solidFill>
                  <a:srgbClr val="006654"/>
                </a:solidFill>
              </a:defRPr>
            </a:lvl2pPr>
            <a:lvl3pPr>
              <a:defRPr sz="1000">
                <a:solidFill>
                  <a:srgbClr val="006654"/>
                </a:solidFill>
              </a:defRPr>
            </a:lvl3pPr>
            <a:lvl4pPr>
              <a:defRPr sz="1000">
                <a:solidFill>
                  <a:srgbClr val="006654"/>
                </a:solidFill>
              </a:defRPr>
            </a:lvl4pPr>
            <a:lvl5pPr>
              <a:defRPr sz="1000">
                <a:solidFill>
                  <a:srgbClr val="006654"/>
                </a:solidFill>
              </a:defRPr>
            </a:lvl5pPr>
          </a:lstStyle>
          <a:p>
            <a:pPr lvl="0"/>
            <a:r>
              <a:rPr lang="en-US"/>
              <a:t>Source reference for illustration</a:t>
            </a:r>
          </a:p>
        </p:txBody>
      </p:sp>
    </p:spTree>
    <p:extLst>
      <p:ext uri="{BB962C8B-B14F-4D97-AF65-F5344CB8AC3E}">
        <p14:creationId xmlns:p14="http://schemas.microsoft.com/office/powerpoint/2010/main" val="42698469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Rectangle 12">
            <a:hlinkClick r:id="" action="ppaction://noaction"/>
          </p:cNvPr>
          <p:cNvSpPr/>
          <p:nvPr userDrawn="1"/>
        </p:nvSpPr>
        <p:spPr>
          <a:xfrm>
            <a:off x="2344619" y="152400"/>
            <a:ext cx="885743"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15"/>
          </a:p>
        </p:txBody>
      </p:sp>
      <p:sp>
        <p:nvSpPr>
          <p:cNvPr id="25" name="Rectangle 24"/>
          <p:cNvSpPr/>
          <p:nvPr userDrawn="1"/>
        </p:nvSpPr>
        <p:spPr>
          <a:xfrm>
            <a:off x="0" y="5"/>
            <a:ext cx="12192000" cy="778149"/>
          </a:xfrm>
          <a:prstGeom prst="rect">
            <a:avLst/>
          </a:prstGeom>
          <a:solidFill>
            <a:srgbClr val="0066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2215"/>
          </a:p>
        </p:txBody>
      </p:sp>
      <p:pic>
        <p:nvPicPr>
          <p:cNvPr id="5" name="Picture 4"/>
          <p:cNvPicPr>
            <a:picLocks noChangeAspect="1"/>
          </p:cNvPicPr>
          <p:nvPr userDrawn="1"/>
        </p:nvPicPr>
        <p:blipFill>
          <a:blip r:embed="rId5" cstate="screen">
            <a:extLst>
              <a:ext uri="{28A0092B-C50C-407E-A947-70E740481C1C}">
                <a14:useLocalDpi xmlns:a14="http://schemas.microsoft.com/office/drawing/2010/main" val="0"/>
              </a:ext>
            </a:extLst>
          </a:blip>
          <a:stretch>
            <a:fillRect/>
          </a:stretch>
        </p:blipFill>
        <p:spPr>
          <a:xfrm>
            <a:off x="9684000" y="6228003"/>
            <a:ext cx="2160000" cy="434430"/>
          </a:xfrm>
          <a:prstGeom prst="rect">
            <a:avLst/>
          </a:prstGeom>
        </p:spPr>
      </p:pic>
    </p:spTree>
    <p:extLst>
      <p:ext uri="{BB962C8B-B14F-4D97-AF65-F5344CB8AC3E}">
        <p14:creationId xmlns:p14="http://schemas.microsoft.com/office/powerpoint/2010/main" val="371724983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p:hf hdr="0" ftr="0" dt="0"/>
  <p:txStyles>
    <p:titleStyle>
      <a:lvl1pPr algn="ctr" defTabSz="1125472" rtl="0" eaLnBrk="1" latinLnBrk="0" hangingPunct="1">
        <a:spcBef>
          <a:spcPct val="0"/>
        </a:spcBef>
        <a:buNone/>
        <a:defRPr sz="5417" kern="1200">
          <a:solidFill>
            <a:schemeClr val="tx1"/>
          </a:solidFill>
          <a:latin typeface="+mj-lt"/>
          <a:ea typeface="+mj-ea"/>
          <a:cs typeface="+mj-cs"/>
        </a:defRPr>
      </a:lvl1pPr>
    </p:titleStyle>
    <p:bodyStyle>
      <a:lvl1pPr marL="422051" indent="-422051" algn="l" defTabSz="1125472" rtl="0" eaLnBrk="1" latinLnBrk="0" hangingPunct="1">
        <a:spcBef>
          <a:spcPct val="20000"/>
        </a:spcBef>
        <a:buFont typeface="Arial" pitchFamily="34" charset="0"/>
        <a:buChar char="•"/>
        <a:defRPr sz="3939" kern="1200">
          <a:solidFill>
            <a:schemeClr val="tx1"/>
          </a:solidFill>
          <a:latin typeface="+mn-lt"/>
          <a:ea typeface="+mn-ea"/>
          <a:cs typeface="+mn-cs"/>
        </a:defRPr>
      </a:lvl1pPr>
      <a:lvl2pPr marL="914446" indent="-351710" algn="l" defTabSz="1125472" rtl="0" eaLnBrk="1" latinLnBrk="0" hangingPunct="1">
        <a:spcBef>
          <a:spcPct val="20000"/>
        </a:spcBef>
        <a:buFont typeface="Arial" pitchFamily="34" charset="0"/>
        <a:buChar char="–"/>
        <a:defRPr sz="3446" kern="1200">
          <a:solidFill>
            <a:schemeClr val="tx1"/>
          </a:solidFill>
          <a:latin typeface="+mn-lt"/>
          <a:ea typeface="+mn-ea"/>
          <a:cs typeface="+mn-cs"/>
        </a:defRPr>
      </a:lvl2pPr>
      <a:lvl3pPr marL="1406839" indent="-281368" algn="l" defTabSz="1125472" rtl="0" eaLnBrk="1" latinLnBrk="0" hangingPunct="1">
        <a:spcBef>
          <a:spcPct val="20000"/>
        </a:spcBef>
        <a:buFont typeface="Arial" pitchFamily="34" charset="0"/>
        <a:buChar char="•"/>
        <a:defRPr sz="2954" kern="1200">
          <a:solidFill>
            <a:schemeClr val="tx1"/>
          </a:solidFill>
          <a:latin typeface="+mn-lt"/>
          <a:ea typeface="+mn-ea"/>
          <a:cs typeface="+mn-cs"/>
        </a:defRPr>
      </a:lvl3pPr>
      <a:lvl4pPr marL="1969575"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4pPr>
      <a:lvl5pPr marL="2532312"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5pPr>
      <a:lvl6pPr marL="3095047"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6pPr>
      <a:lvl7pPr marL="3657783"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7pPr>
      <a:lvl8pPr marL="4220519"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8pPr>
      <a:lvl9pPr marL="4783254"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9pPr>
    </p:bodyStyle>
    <p:otherStyle>
      <a:defPPr>
        <a:defRPr lang="en-US"/>
      </a:defPPr>
      <a:lvl1pPr marL="0" algn="l" defTabSz="1125472" rtl="0" eaLnBrk="1" latinLnBrk="0" hangingPunct="1">
        <a:defRPr sz="2215" kern="1200">
          <a:solidFill>
            <a:schemeClr val="tx1"/>
          </a:solidFill>
          <a:latin typeface="+mn-lt"/>
          <a:ea typeface="+mn-ea"/>
          <a:cs typeface="+mn-cs"/>
        </a:defRPr>
      </a:lvl1pPr>
      <a:lvl2pPr marL="562737" algn="l" defTabSz="1125472" rtl="0" eaLnBrk="1" latinLnBrk="0" hangingPunct="1">
        <a:defRPr sz="2215" kern="1200">
          <a:solidFill>
            <a:schemeClr val="tx1"/>
          </a:solidFill>
          <a:latin typeface="+mn-lt"/>
          <a:ea typeface="+mn-ea"/>
          <a:cs typeface="+mn-cs"/>
        </a:defRPr>
      </a:lvl2pPr>
      <a:lvl3pPr marL="1125472" algn="l" defTabSz="1125472" rtl="0" eaLnBrk="1" latinLnBrk="0" hangingPunct="1">
        <a:defRPr sz="2215" kern="1200">
          <a:solidFill>
            <a:schemeClr val="tx1"/>
          </a:solidFill>
          <a:latin typeface="+mn-lt"/>
          <a:ea typeface="+mn-ea"/>
          <a:cs typeface="+mn-cs"/>
        </a:defRPr>
      </a:lvl3pPr>
      <a:lvl4pPr marL="1688207" algn="l" defTabSz="1125472" rtl="0" eaLnBrk="1" latinLnBrk="0" hangingPunct="1">
        <a:defRPr sz="2215" kern="1200">
          <a:solidFill>
            <a:schemeClr val="tx1"/>
          </a:solidFill>
          <a:latin typeface="+mn-lt"/>
          <a:ea typeface="+mn-ea"/>
          <a:cs typeface="+mn-cs"/>
        </a:defRPr>
      </a:lvl4pPr>
      <a:lvl5pPr marL="2250944" algn="l" defTabSz="1125472" rtl="0" eaLnBrk="1" latinLnBrk="0" hangingPunct="1">
        <a:defRPr sz="2215" kern="1200">
          <a:solidFill>
            <a:schemeClr val="tx1"/>
          </a:solidFill>
          <a:latin typeface="+mn-lt"/>
          <a:ea typeface="+mn-ea"/>
          <a:cs typeface="+mn-cs"/>
        </a:defRPr>
      </a:lvl5pPr>
      <a:lvl6pPr marL="2813679" algn="l" defTabSz="1125472" rtl="0" eaLnBrk="1" latinLnBrk="0" hangingPunct="1">
        <a:defRPr sz="2215" kern="1200">
          <a:solidFill>
            <a:schemeClr val="tx1"/>
          </a:solidFill>
          <a:latin typeface="+mn-lt"/>
          <a:ea typeface="+mn-ea"/>
          <a:cs typeface="+mn-cs"/>
        </a:defRPr>
      </a:lvl6pPr>
      <a:lvl7pPr marL="3376415" algn="l" defTabSz="1125472" rtl="0" eaLnBrk="1" latinLnBrk="0" hangingPunct="1">
        <a:defRPr sz="2215" kern="1200">
          <a:solidFill>
            <a:schemeClr val="tx1"/>
          </a:solidFill>
          <a:latin typeface="+mn-lt"/>
          <a:ea typeface="+mn-ea"/>
          <a:cs typeface="+mn-cs"/>
        </a:defRPr>
      </a:lvl7pPr>
      <a:lvl8pPr marL="3939151" algn="l" defTabSz="1125472" rtl="0" eaLnBrk="1" latinLnBrk="0" hangingPunct="1">
        <a:defRPr sz="2215" kern="1200">
          <a:solidFill>
            <a:schemeClr val="tx1"/>
          </a:solidFill>
          <a:latin typeface="+mn-lt"/>
          <a:ea typeface="+mn-ea"/>
          <a:cs typeface="+mn-cs"/>
        </a:defRPr>
      </a:lvl8pPr>
      <a:lvl9pPr marL="4501886" algn="l" defTabSz="1125472" rtl="0" eaLnBrk="1" latinLnBrk="0" hangingPunct="1">
        <a:defRPr sz="2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E39077B-D249-469C-ABF2-E5A2E1076512}"/>
              </a:ext>
            </a:extLst>
          </p:cNvPr>
          <p:cNvPicPr>
            <a:picLocks noGrp="1" noChangeAspect="1"/>
          </p:cNvPicPr>
          <p:nvPr>
            <p:ph sz="quarter" idx="11"/>
          </p:nvPr>
        </p:nvPicPr>
        <p:blipFill rotWithShape="1">
          <a:blip r:embed="rId3"/>
          <a:srcRect b="7022"/>
          <a:stretch/>
        </p:blipFill>
        <p:spPr>
          <a:xfrm>
            <a:off x="0" y="736602"/>
            <a:ext cx="12192000" cy="6121398"/>
          </a:xfrm>
          <a:prstGeom prst="rect">
            <a:avLst/>
          </a:prstGeom>
        </p:spPr>
      </p:pic>
      <p:sp>
        <p:nvSpPr>
          <p:cNvPr id="2" name="Text Placeholder 1">
            <a:extLst>
              <a:ext uri="{FF2B5EF4-FFF2-40B4-BE49-F238E27FC236}">
                <a16:creationId xmlns:a16="http://schemas.microsoft.com/office/drawing/2014/main" id="{C30E6469-B946-43BC-8ADE-5F65E9B9C4AB}"/>
              </a:ext>
            </a:extLst>
          </p:cNvPr>
          <p:cNvSpPr>
            <a:spLocks noGrp="1"/>
          </p:cNvSpPr>
          <p:nvPr>
            <p:ph type="body" sz="quarter" idx="10"/>
          </p:nvPr>
        </p:nvSpPr>
        <p:spPr>
          <a:xfrm>
            <a:off x="386861" y="2419073"/>
            <a:ext cx="11418277" cy="524395"/>
          </a:xfrm>
        </p:spPr>
        <p:txBody>
          <a:bodyPr lIns="91440" tIns="45720" rIns="91440" bIns="45720" anchor="t"/>
          <a:lstStyle/>
          <a:p>
            <a:pPr algn="ctr"/>
            <a:r>
              <a:rPr lang="da-DK" sz="3600" dirty="0">
                <a:effectLst>
                  <a:outerShdw blurRad="38100" dist="38100" dir="2700000" algn="tl">
                    <a:srgbClr val="000000">
                      <a:alpha val="43137"/>
                    </a:srgbClr>
                  </a:outerShdw>
                </a:effectLst>
                <a:latin typeface="Calibri"/>
                <a:cs typeface="Calibri"/>
              </a:rPr>
              <a:t>In-Person meeting in Copenhagen</a:t>
            </a:r>
          </a:p>
          <a:p>
            <a:pPr algn="ctr"/>
            <a:r>
              <a:rPr lang="da-DK" sz="3600" dirty="0">
                <a:effectLst>
                  <a:outerShdw blurRad="38100" dist="38100" dir="2700000" algn="tl">
                    <a:srgbClr val="000000">
                      <a:alpha val="43137"/>
                    </a:srgbClr>
                  </a:outerShdw>
                </a:effectLst>
                <a:latin typeface="Calibri"/>
                <a:cs typeface="Calibri"/>
              </a:rPr>
              <a:t>Intro</a:t>
            </a:r>
            <a:endParaRPr lang="en-US" sz="3600" dirty="0">
              <a:effectLst>
                <a:outerShdw blurRad="38100" dist="38100" dir="2700000" algn="tl">
                  <a:srgbClr val="000000">
                    <a:alpha val="43137"/>
                  </a:srgbClr>
                </a:outerShdw>
              </a:effectLst>
              <a:latin typeface="Calibri"/>
              <a:cs typeface="Calibri"/>
            </a:endParaRPr>
          </a:p>
          <a:p>
            <a:pPr algn="ctr"/>
            <a:endParaRPr lang="en-US" sz="2000" b="0" dirty="0">
              <a:effectLst>
                <a:outerShdw blurRad="38100" dist="38100" dir="2700000" algn="tl">
                  <a:srgbClr val="000000">
                    <a:alpha val="43137"/>
                  </a:srgbClr>
                </a:outerShdw>
              </a:effectLst>
              <a:latin typeface="Calibri"/>
              <a:cs typeface="Calibri"/>
            </a:endParaRPr>
          </a:p>
          <a:p>
            <a:pPr algn="ctr"/>
            <a:r>
              <a:rPr lang="en-US" sz="2000" b="0" dirty="0">
                <a:effectLst>
                  <a:outerShdw blurRad="38100" dist="38100" dir="2700000" algn="tl">
                    <a:srgbClr val="000000">
                      <a:alpha val="43137"/>
                    </a:srgbClr>
                  </a:outerShdw>
                </a:effectLst>
                <a:latin typeface="Calibri"/>
                <a:cs typeface="Calibri"/>
              </a:rPr>
              <a:t>Sune Djurhuus</a:t>
            </a:r>
            <a:endParaRPr lang="en-DK" sz="2000" b="0" dirty="0">
              <a:effectLst>
                <a:outerShdw blurRad="38100" dist="38100" dir="2700000" algn="tl">
                  <a:srgbClr val="000000">
                    <a:alpha val="43137"/>
                  </a:srgbClr>
                </a:outerShdw>
              </a:effectLst>
              <a:latin typeface="Calibri"/>
              <a:cs typeface="Calibri"/>
            </a:endParaRPr>
          </a:p>
        </p:txBody>
      </p:sp>
      <p:pic>
        <p:nvPicPr>
          <p:cNvPr id="6" name="Picture 5">
            <a:extLst>
              <a:ext uri="{FF2B5EF4-FFF2-40B4-BE49-F238E27FC236}">
                <a16:creationId xmlns:a16="http://schemas.microsoft.com/office/drawing/2014/main" id="{681A9CB3-6EE4-471E-B874-8791366EAE06}"/>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9843799" y="6334395"/>
            <a:ext cx="2160000" cy="434430"/>
          </a:xfrm>
          <a:prstGeom prst="rect">
            <a:avLst/>
          </a:prstGeom>
        </p:spPr>
      </p:pic>
      <p:sp>
        <p:nvSpPr>
          <p:cNvPr id="4" name="Text Placeholder 3">
            <a:extLst>
              <a:ext uri="{FF2B5EF4-FFF2-40B4-BE49-F238E27FC236}">
                <a16:creationId xmlns:a16="http://schemas.microsoft.com/office/drawing/2014/main" id="{C3FFB882-E24D-472B-88DB-88038D981FA5}"/>
              </a:ext>
            </a:extLst>
          </p:cNvPr>
          <p:cNvSpPr>
            <a:spLocks noGrp="1"/>
          </p:cNvSpPr>
          <p:nvPr>
            <p:ph type="body" sz="quarter" idx="12"/>
          </p:nvPr>
        </p:nvSpPr>
        <p:spPr>
          <a:xfrm>
            <a:off x="612554" y="141452"/>
            <a:ext cx="10129239" cy="500716"/>
          </a:xfrm>
        </p:spPr>
        <p:txBody>
          <a:bodyPr lIns="91440" tIns="45720" rIns="91440" bIns="45720" anchor="t"/>
          <a:lstStyle/>
          <a:p>
            <a:pPr algn="ctr"/>
            <a:r>
              <a:rPr lang="da-DK" sz="2800" b="1" dirty="0">
                <a:solidFill>
                  <a:schemeClr val="bg1"/>
                </a:solidFill>
                <a:latin typeface="Calibri"/>
                <a:cs typeface="Calibri"/>
              </a:rPr>
              <a:t>Eionet </a:t>
            </a:r>
            <a:r>
              <a:rPr lang="da-DK" sz="2800" b="1" dirty="0" err="1">
                <a:solidFill>
                  <a:schemeClr val="bg1"/>
                </a:solidFill>
                <a:latin typeface="Calibri"/>
                <a:cs typeface="Calibri"/>
              </a:rPr>
              <a:t>Thematic</a:t>
            </a:r>
            <a:r>
              <a:rPr lang="da-DK" sz="2800" b="1" dirty="0">
                <a:solidFill>
                  <a:schemeClr val="bg1"/>
                </a:solidFill>
                <a:latin typeface="Calibri"/>
                <a:cs typeface="Calibri"/>
              </a:rPr>
              <a:t> Group on Digital </a:t>
            </a:r>
            <a:r>
              <a:rPr lang="da-DK" sz="2800" b="1" dirty="0" err="1">
                <a:solidFill>
                  <a:schemeClr val="bg1"/>
                </a:solidFill>
                <a:latin typeface="Calibri"/>
                <a:cs typeface="Calibri"/>
              </a:rPr>
              <a:t>Capabilities</a:t>
            </a:r>
            <a:r>
              <a:rPr lang="da-DK" sz="2800" b="1" dirty="0">
                <a:solidFill>
                  <a:schemeClr val="bg1"/>
                </a:solidFill>
                <a:latin typeface="Calibri"/>
                <a:cs typeface="Calibri"/>
              </a:rPr>
              <a:t> and AI</a:t>
            </a:r>
            <a:endParaRPr lang="en-US" sz="2800" b="1" dirty="0">
              <a:solidFill>
                <a:schemeClr val="bg1"/>
              </a:solidFill>
            </a:endParaRPr>
          </a:p>
        </p:txBody>
      </p:sp>
    </p:spTree>
    <p:extLst>
      <p:ext uri="{BB962C8B-B14F-4D97-AF65-F5344CB8AC3E}">
        <p14:creationId xmlns:p14="http://schemas.microsoft.com/office/powerpoint/2010/main" val="1457920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74E0CA3-9637-A1B2-94A1-1533EC848280}"/>
              </a:ext>
            </a:extLst>
          </p:cNvPr>
          <p:cNvSpPr>
            <a:spLocks noGrp="1"/>
          </p:cNvSpPr>
          <p:nvPr>
            <p:ph type="body" sz="quarter" idx="10"/>
          </p:nvPr>
        </p:nvSpPr>
        <p:spPr>
          <a:xfrm>
            <a:off x="152400" y="148709"/>
            <a:ext cx="12192000" cy="524395"/>
          </a:xfrm>
        </p:spPr>
        <p:txBody>
          <a:bodyPr/>
          <a:lstStyle/>
          <a:p>
            <a:pPr lvl="0" fontAlgn="base"/>
            <a:r>
              <a:rPr lang="en-GB" sz="2200" b="0" dirty="0"/>
              <a:t>How can we support each other in leveraging the potential of AI to maximize the potential of EIONET? </a:t>
            </a:r>
          </a:p>
          <a:p>
            <a:pPr fontAlgn="base"/>
            <a:r>
              <a:rPr lang="en-GB" sz="2200" b="0" dirty="0"/>
              <a:t> </a:t>
            </a:r>
          </a:p>
          <a:p>
            <a:endParaRPr lang="en-GB" sz="2200" dirty="0"/>
          </a:p>
        </p:txBody>
      </p:sp>
      <p:sp>
        <p:nvSpPr>
          <p:cNvPr id="3" name="Content Placeholder 2">
            <a:extLst>
              <a:ext uri="{FF2B5EF4-FFF2-40B4-BE49-F238E27FC236}">
                <a16:creationId xmlns:a16="http://schemas.microsoft.com/office/drawing/2014/main" id="{FFC20A3C-9658-6B2B-334B-7F19D566F250}"/>
              </a:ext>
            </a:extLst>
          </p:cNvPr>
          <p:cNvSpPr>
            <a:spLocks noGrp="1"/>
          </p:cNvSpPr>
          <p:nvPr>
            <p:ph sz="quarter" idx="11"/>
          </p:nvPr>
        </p:nvSpPr>
        <p:spPr/>
        <p:txBody>
          <a:bodyPr/>
          <a:lstStyle/>
          <a:p>
            <a:pPr marL="0" indent="0">
              <a:buNone/>
            </a:pPr>
            <a:r>
              <a:rPr lang="en-US" sz="1800" b="1" u="sng" dirty="0">
                <a:solidFill>
                  <a:schemeClr val="tx1"/>
                </a:solidFill>
              </a:rPr>
              <a:t>Meeting purpose</a:t>
            </a:r>
            <a:endParaRPr lang="en-GB" sz="1800" dirty="0">
              <a:solidFill>
                <a:schemeClr val="tx1"/>
              </a:solidFill>
            </a:endParaRPr>
          </a:p>
          <a:p>
            <a:pPr marL="0" indent="0">
              <a:buNone/>
            </a:pPr>
            <a:r>
              <a:rPr lang="en-US" sz="1800" dirty="0">
                <a:solidFill>
                  <a:schemeClr val="tx1"/>
                </a:solidFill>
              </a:rPr>
              <a:t>Following the survey outcomes and the group work of 17 June 2026, this is the meeting at which the group converts its priority questions into clear mission with designed targets and way to achieve them.  </a:t>
            </a:r>
            <a:endParaRPr lang="en-GB" sz="1800" dirty="0">
              <a:solidFill>
                <a:schemeClr val="tx1"/>
              </a:solidFill>
            </a:endParaRPr>
          </a:p>
          <a:p>
            <a:pPr marL="0" indent="0">
              <a:buNone/>
            </a:pPr>
            <a:endParaRPr lang="en-GB" sz="1800" dirty="0"/>
          </a:p>
          <a:p>
            <a:pPr marL="0" indent="0">
              <a:buNone/>
            </a:pPr>
            <a:r>
              <a:rPr lang="en-US" sz="1800" b="1" u="sng" dirty="0">
                <a:solidFill>
                  <a:schemeClr val="tx1"/>
                </a:solidFill>
              </a:rPr>
              <a:t>Expected outputs</a:t>
            </a:r>
            <a:endParaRPr lang="en-GB" sz="1800" dirty="0">
              <a:solidFill>
                <a:schemeClr val="tx1"/>
              </a:solidFill>
            </a:endParaRPr>
          </a:p>
          <a:p>
            <a:r>
              <a:rPr lang="en-US" sz="1800" dirty="0">
                <a:solidFill>
                  <a:schemeClr val="tx1"/>
                </a:solidFill>
              </a:rPr>
              <a:t>Main aim (addressing gains and expectations) and list of targets to be achieved by 31.12.2028</a:t>
            </a:r>
            <a:endParaRPr lang="en-GB" sz="1800" dirty="0">
              <a:solidFill>
                <a:schemeClr val="tx1"/>
              </a:solidFill>
            </a:endParaRPr>
          </a:p>
          <a:p>
            <a:r>
              <a:rPr lang="en-US" sz="1800" dirty="0">
                <a:solidFill>
                  <a:schemeClr val="tx1"/>
                </a:solidFill>
              </a:rPr>
              <a:t>Portfolio of outcomes and related actions fulfilling the targets across defined 4 topics  </a:t>
            </a:r>
            <a:endParaRPr lang="en-GB" sz="1800" dirty="0">
              <a:solidFill>
                <a:schemeClr val="tx1"/>
              </a:solidFill>
            </a:endParaRPr>
          </a:p>
          <a:p>
            <a:r>
              <a:rPr lang="en-US" sz="1800" dirty="0">
                <a:solidFill>
                  <a:schemeClr val="tx1"/>
                </a:solidFill>
              </a:rPr>
              <a:t>Defined roadmap with milestones addressing priorities</a:t>
            </a:r>
            <a:endParaRPr lang="en-GB" sz="1800" dirty="0">
              <a:solidFill>
                <a:schemeClr val="tx1"/>
              </a:solidFill>
            </a:endParaRPr>
          </a:p>
          <a:p>
            <a:r>
              <a:rPr lang="en-US" sz="1800" dirty="0">
                <a:solidFill>
                  <a:schemeClr val="tx1"/>
                </a:solidFill>
              </a:rPr>
              <a:t>Lightweight working model (meetings, assignments, reporting, communication, etc.)</a:t>
            </a:r>
          </a:p>
          <a:p>
            <a:endParaRPr lang="en-US" sz="1800" dirty="0">
              <a:solidFill>
                <a:schemeClr val="tx1"/>
              </a:solidFill>
            </a:endParaRPr>
          </a:p>
          <a:p>
            <a:endParaRPr lang="en-US" sz="1800" dirty="0">
              <a:solidFill>
                <a:schemeClr val="tx1"/>
              </a:solidFill>
            </a:endParaRPr>
          </a:p>
          <a:p>
            <a:pPr marL="0" indent="0">
              <a:buNone/>
            </a:pPr>
            <a:r>
              <a:rPr lang="en-US" sz="2800" dirty="0">
                <a:solidFill>
                  <a:schemeClr val="tx1"/>
                </a:solidFill>
              </a:rPr>
              <a:t>                             Speak up             Listen                   Interact</a:t>
            </a:r>
            <a:endParaRPr lang="en-GB" sz="2800" dirty="0">
              <a:solidFill>
                <a:schemeClr val="tx1"/>
              </a:solidFill>
            </a:endParaRPr>
          </a:p>
          <a:p>
            <a:endParaRPr lang="en-GB" sz="1400" dirty="0"/>
          </a:p>
        </p:txBody>
      </p:sp>
      <p:sp>
        <p:nvSpPr>
          <p:cNvPr id="4" name="Text Placeholder 3">
            <a:extLst>
              <a:ext uri="{FF2B5EF4-FFF2-40B4-BE49-F238E27FC236}">
                <a16:creationId xmlns:a16="http://schemas.microsoft.com/office/drawing/2014/main" id="{4308551A-5477-EF3F-0453-2AD7CFA68E93}"/>
              </a:ext>
            </a:extLst>
          </p:cNvPr>
          <p:cNvSpPr>
            <a:spLocks noGrp="1"/>
          </p:cNvSpPr>
          <p:nvPr>
            <p:ph type="body" sz="quarter" idx="12"/>
          </p:nvPr>
        </p:nvSpPr>
        <p:spPr/>
        <p:txBody>
          <a:bodyPr/>
          <a:lstStyle/>
          <a:p>
            <a:endParaRPr lang="en-GB"/>
          </a:p>
        </p:txBody>
      </p:sp>
    </p:spTree>
    <p:extLst>
      <p:ext uri="{BB962C8B-B14F-4D97-AF65-F5344CB8AC3E}">
        <p14:creationId xmlns:p14="http://schemas.microsoft.com/office/powerpoint/2010/main" val="34032087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456C697-C5EC-AA97-4600-F80E0DD781CC}"/>
              </a:ext>
            </a:extLst>
          </p:cNvPr>
          <p:cNvSpPr>
            <a:spLocks noGrp="1"/>
          </p:cNvSpPr>
          <p:nvPr>
            <p:ph type="body" sz="quarter" idx="10"/>
          </p:nvPr>
        </p:nvSpPr>
        <p:spPr/>
        <p:txBody>
          <a:bodyPr/>
          <a:lstStyle/>
          <a:p>
            <a:r>
              <a:rPr lang="da-DK" dirty="0"/>
              <a:t>Agenda</a:t>
            </a:r>
            <a:endParaRPr lang="en-GB" dirty="0"/>
          </a:p>
        </p:txBody>
      </p:sp>
      <p:graphicFrame>
        <p:nvGraphicFramePr>
          <p:cNvPr id="8" name="Table 7">
            <a:extLst>
              <a:ext uri="{FF2B5EF4-FFF2-40B4-BE49-F238E27FC236}">
                <a16:creationId xmlns:a16="http://schemas.microsoft.com/office/drawing/2014/main" id="{48C43EDA-53E4-0AC8-049B-74B11BE235EA}"/>
              </a:ext>
            </a:extLst>
          </p:cNvPr>
          <p:cNvGraphicFramePr>
            <a:graphicFrameLocks noGrp="1"/>
          </p:cNvGraphicFramePr>
          <p:nvPr>
            <p:extLst>
              <p:ext uri="{D42A27DB-BD31-4B8C-83A1-F6EECF244321}">
                <p14:modId xmlns:p14="http://schemas.microsoft.com/office/powerpoint/2010/main" val="3906792134"/>
              </p:ext>
            </p:extLst>
          </p:nvPr>
        </p:nvGraphicFramePr>
        <p:xfrm>
          <a:off x="976184" y="1840132"/>
          <a:ext cx="7777292" cy="4564571"/>
        </p:xfrm>
        <a:graphic>
          <a:graphicData uri="http://schemas.openxmlformats.org/drawingml/2006/table">
            <a:tbl>
              <a:tblPr/>
              <a:tblGrid>
                <a:gridCol w="1370022">
                  <a:extLst>
                    <a:ext uri="{9D8B030D-6E8A-4147-A177-3AD203B41FA5}">
                      <a16:colId xmlns:a16="http://schemas.microsoft.com/office/drawing/2014/main" val="1581296463"/>
                    </a:ext>
                  </a:extLst>
                </a:gridCol>
                <a:gridCol w="6407270">
                  <a:extLst>
                    <a:ext uri="{9D8B030D-6E8A-4147-A177-3AD203B41FA5}">
                      <a16:colId xmlns:a16="http://schemas.microsoft.com/office/drawing/2014/main" val="4184968128"/>
                    </a:ext>
                  </a:extLst>
                </a:gridCol>
              </a:tblGrid>
              <a:tr h="456550">
                <a:tc>
                  <a:txBody>
                    <a:bodyPr/>
                    <a:lstStyle/>
                    <a:p>
                      <a:pPr>
                        <a:spcBef>
                          <a:spcPts val="200"/>
                        </a:spcBef>
                        <a:spcAft>
                          <a:spcPts val="200"/>
                        </a:spcAft>
                        <a:buNone/>
                      </a:pPr>
                      <a:r>
                        <a:rPr lang="en-US" sz="1400" dirty="0">
                          <a:effectLst/>
                          <a:latin typeface="Calibri" panose="020F0502020204030204" pitchFamily="34" charset="0"/>
                          <a:ea typeface="Times New Roman" panose="02020603050405020304" pitchFamily="18" charset="0"/>
                          <a:cs typeface="Times New Roman" panose="02020603050405020304" pitchFamily="18" charset="0"/>
                        </a:rPr>
                        <a:t>13:00 – 13:10</a:t>
                      </a:r>
                      <a:endParaRPr lang="en-GB" sz="14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spcBef>
                          <a:spcPts val="200"/>
                        </a:spcBef>
                        <a:spcAft>
                          <a:spcPts val="200"/>
                        </a:spcAft>
                        <a:buNone/>
                      </a:pPr>
                      <a:r>
                        <a:rPr lang="en-US" sz="1400" b="1" dirty="0">
                          <a:effectLst/>
                          <a:latin typeface="Calibri" panose="020F0502020204030204" pitchFamily="34" charset="0"/>
                          <a:ea typeface="Times New Roman" panose="02020603050405020304" pitchFamily="18" charset="0"/>
                          <a:cs typeface="Arial" panose="020B0604020202020204" pitchFamily="34" charset="0"/>
                        </a:rPr>
                        <a:t>Welcome to European Environment Agency (purpose of the meeting)</a:t>
                      </a:r>
                      <a:endParaRPr lang="en-GB" sz="1400" dirty="0">
                        <a:effectLst/>
                        <a:latin typeface="Verdana" panose="020B0604030504040204" pitchFamily="34" charset="0"/>
                        <a:ea typeface="Times New Roman" panose="02020603050405020304" pitchFamily="18" charset="0"/>
                        <a:cs typeface="Times New Roman" panose="02020603050405020304" pitchFamily="18" charset="0"/>
                      </a:endParaRPr>
                    </a:p>
                    <a:p>
                      <a:pPr>
                        <a:spcBef>
                          <a:spcPts val="200"/>
                        </a:spcBef>
                        <a:spcAft>
                          <a:spcPts val="200"/>
                        </a:spcAft>
                        <a:buNone/>
                      </a:pPr>
                      <a:r>
                        <a:rPr lang="en-GB" sz="1400" i="1" dirty="0">
                          <a:effectLst/>
                          <a:latin typeface="Calibri" panose="020F0502020204030204" pitchFamily="34" charset="0"/>
                          <a:ea typeface="Calibri" panose="020F0502020204030204" pitchFamily="34" charset="0"/>
                          <a:cs typeface="Times New Roman" panose="02020603050405020304" pitchFamily="18" charset="0"/>
                        </a:rPr>
                        <a:t>Sune Djurhuus, EEA</a:t>
                      </a:r>
                      <a:r>
                        <a:rPr lang="en-GB" sz="1400" i="1" dirty="0">
                          <a:effectLst/>
                          <a:latin typeface="Calibri" panose="020F0502020204030204" pitchFamily="34" charset="0"/>
                          <a:ea typeface="Times New Roman" panose="02020603050405020304" pitchFamily="18" charset="0"/>
                          <a:cs typeface="Arial" panose="020B0604020202020204" pitchFamily="34" charset="0"/>
                        </a:rPr>
                        <a:t> </a:t>
                      </a:r>
                      <a:endParaRPr lang="en-GB" sz="14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65268095"/>
                  </a:ext>
                </a:extLst>
              </a:tr>
              <a:tr h="456550">
                <a:tc>
                  <a:txBody>
                    <a:bodyPr/>
                    <a:lstStyle/>
                    <a:p>
                      <a:pPr>
                        <a:spcBef>
                          <a:spcPts val="200"/>
                        </a:spcBef>
                        <a:spcAft>
                          <a:spcPts val="200"/>
                        </a:spcAft>
                        <a:buNone/>
                      </a:pPr>
                      <a:r>
                        <a:rPr lang="en-US" sz="1400" dirty="0">
                          <a:effectLst/>
                          <a:latin typeface="Calibri" panose="020F0502020204030204" pitchFamily="34" charset="0"/>
                          <a:ea typeface="Times New Roman" panose="02020603050405020304" pitchFamily="18" charset="0"/>
                          <a:cs typeface="Times New Roman" panose="02020603050405020304" pitchFamily="18" charset="0"/>
                        </a:rPr>
                        <a:t>13:10 – 13:30</a:t>
                      </a:r>
                      <a:endParaRPr lang="en-GB" sz="14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spcBef>
                          <a:spcPts val="200"/>
                        </a:spcBef>
                        <a:spcAft>
                          <a:spcPts val="200"/>
                        </a:spcAft>
                        <a:buNone/>
                      </a:pPr>
                      <a:r>
                        <a:rPr lang="en-US" sz="1400" b="1" dirty="0">
                          <a:effectLst/>
                          <a:latin typeface="Calibri" panose="020F0502020204030204" pitchFamily="34" charset="0"/>
                          <a:ea typeface="Times New Roman" panose="02020603050405020304" pitchFamily="18" charset="0"/>
                          <a:cs typeface="Arial" panose="020B0604020202020204" pitchFamily="34" charset="0"/>
                        </a:rPr>
                        <a:t>Check in </a:t>
                      </a:r>
                      <a:endParaRPr lang="en-GB" sz="1400" dirty="0">
                        <a:effectLst/>
                        <a:latin typeface="Verdana" panose="020B0604030504040204" pitchFamily="34" charset="0"/>
                        <a:ea typeface="Times New Roman" panose="02020603050405020304" pitchFamily="18" charset="0"/>
                        <a:cs typeface="Times New Roman" panose="02020603050405020304" pitchFamily="18" charset="0"/>
                      </a:endParaRPr>
                    </a:p>
                    <a:p>
                      <a:pPr>
                        <a:spcBef>
                          <a:spcPts val="200"/>
                        </a:spcBef>
                        <a:spcAft>
                          <a:spcPts val="200"/>
                        </a:spcAft>
                        <a:buNone/>
                      </a:pPr>
                      <a:r>
                        <a:rPr lang="en-US" sz="1400" dirty="0">
                          <a:effectLst/>
                          <a:latin typeface="Calibri" panose="020F0502020204030204" pitchFamily="34" charset="0"/>
                          <a:ea typeface="Times New Roman" panose="02020603050405020304" pitchFamily="18" charset="0"/>
                          <a:cs typeface="Times New Roman" panose="02020603050405020304" pitchFamily="18" charset="0"/>
                        </a:rPr>
                        <a:t>Who you are and what do you want to gain from the meeting?</a:t>
                      </a:r>
                      <a:endParaRPr lang="en-GB" sz="14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4324820"/>
                  </a:ext>
                </a:extLst>
              </a:tr>
              <a:tr h="779057">
                <a:tc>
                  <a:txBody>
                    <a:bodyPr/>
                    <a:lstStyle/>
                    <a:p>
                      <a:pPr>
                        <a:spcBef>
                          <a:spcPts val="200"/>
                        </a:spcBef>
                        <a:spcAft>
                          <a:spcPts val="200"/>
                        </a:spcAft>
                        <a:buNone/>
                      </a:pPr>
                      <a:r>
                        <a:rPr lang="en-US" sz="1400" dirty="0">
                          <a:effectLst/>
                          <a:latin typeface="Calibri" panose="020F0502020204030204" pitchFamily="34" charset="0"/>
                          <a:ea typeface="Times New Roman" panose="02020603050405020304" pitchFamily="18" charset="0"/>
                          <a:cs typeface="Times New Roman" panose="02020603050405020304" pitchFamily="18" charset="0"/>
                        </a:rPr>
                        <a:t>13:30 – 14:00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spcAft>
                          <a:spcPts val="600"/>
                        </a:spcAft>
                        <a:buNone/>
                      </a:pPr>
                      <a:r>
                        <a:rPr lang="en-GB" sz="1400" b="1" dirty="0">
                          <a:effectLst/>
                          <a:latin typeface="Calibri" panose="020F0502020204030204" pitchFamily="34" charset="0"/>
                          <a:ea typeface="Times New Roman" panose="02020603050405020304" pitchFamily="18" charset="0"/>
                          <a:cs typeface="Times New Roman" panose="02020603050405020304" pitchFamily="18" charset="0"/>
                        </a:rPr>
                        <a:t>AI at the EEA and outlook</a:t>
                      </a:r>
                      <a:endParaRPr lang="en-GB" sz="1400" dirty="0">
                        <a:effectLst/>
                        <a:latin typeface="Verdana" panose="020B0604030504040204" pitchFamily="34" charset="0"/>
                        <a:ea typeface="Times New Roman" panose="02020603050405020304" pitchFamily="18" charset="0"/>
                        <a:cs typeface="Times New Roman" panose="02020603050405020304" pitchFamily="18" charset="0"/>
                      </a:endParaRPr>
                    </a:p>
                    <a:p>
                      <a:pPr>
                        <a:spcBef>
                          <a:spcPts val="200"/>
                        </a:spcBef>
                        <a:spcAft>
                          <a:spcPts val="200"/>
                        </a:spcAft>
                        <a:buNone/>
                      </a:pPr>
                      <a:r>
                        <a:rPr lang="en-US" sz="1400" dirty="0">
                          <a:effectLst/>
                          <a:latin typeface="Calibri" panose="020F0502020204030204" pitchFamily="34" charset="0"/>
                          <a:ea typeface="Times New Roman" panose="02020603050405020304" pitchFamily="18" charset="0"/>
                          <a:cs typeface="Arial" panose="020B0604020202020204" pitchFamily="34" charset="0"/>
                        </a:rPr>
                        <a:t>Karl Hamilton, Head of Digital Department, EEA</a:t>
                      </a:r>
                    </a:p>
                    <a:p>
                      <a:pPr>
                        <a:spcBef>
                          <a:spcPts val="200"/>
                        </a:spcBef>
                        <a:spcAft>
                          <a:spcPts val="200"/>
                        </a:spcAft>
                        <a:buNone/>
                      </a:pPr>
                      <a:r>
                        <a:rPr lang="en-US" sz="1400" dirty="0">
                          <a:effectLst/>
                          <a:latin typeface="Calibri" panose="020F0502020204030204" pitchFamily="34" charset="0"/>
                          <a:ea typeface="Times New Roman" panose="02020603050405020304" pitchFamily="18" charset="0"/>
                          <a:cs typeface="Arial" panose="020B0604020202020204" pitchFamily="34" charset="0"/>
                        </a:rPr>
                        <a:t>Irantzu Sadaba, Head of Unit, Digital Transformation and Technology Services</a:t>
                      </a:r>
                      <a:endParaRPr lang="en-GB" sz="14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07830706"/>
                  </a:ext>
                </a:extLst>
              </a:tr>
              <a:tr h="1214229">
                <a:tc>
                  <a:txBody>
                    <a:bodyPr/>
                    <a:lstStyle/>
                    <a:p>
                      <a:pPr>
                        <a:spcBef>
                          <a:spcPts val="200"/>
                        </a:spcBef>
                        <a:spcAft>
                          <a:spcPts val="200"/>
                        </a:spcAft>
                        <a:buNone/>
                      </a:pPr>
                      <a:r>
                        <a:rPr lang="en-US" sz="1400" dirty="0">
                          <a:effectLst/>
                          <a:latin typeface="Calibri" panose="020F0502020204030204" pitchFamily="34" charset="0"/>
                          <a:ea typeface="Times New Roman" panose="02020603050405020304" pitchFamily="18" charset="0"/>
                          <a:cs typeface="Times New Roman" panose="02020603050405020304" pitchFamily="18" charset="0"/>
                        </a:rPr>
                        <a:t>14:00 – 14:50</a:t>
                      </a:r>
                      <a:endParaRPr lang="en-GB" sz="14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spcBef>
                          <a:spcPts val="200"/>
                        </a:spcBef>
                        <a:spcAft>
                          <a:spcPts val="200"/>
                        </a:spcAft>
                        <a:buNone/>
                      </a:pPr>
                      <a:r>
                        <a:rPr lang="en-GB" sz="1400" b="1" dirty="0">
                          <a:effectLst/>
                          <a:latin typeface="Calibri" panose="020F0502020204030204" pitchFamily="34" charset="0"/>
                          <a:ea typeface="Times New Roman" panose="02020603050405020304" pitchFamily="18" charset="0"/>
                          <a:cs typeface="Times New Roman" panose="02020603050405020304" pitchFamily="18" charset="0"/>
                        </a:rPr>
                        <a:t>4 x 5-minute pitches of the topics </a:t>
                      </a:r>
                      <a:endParaRPr lang="en-GB" sz="1400" dirty="0">
                        <a:effectLst/>
                        <a:latin typeface="Verdana" panose="020B0604030504040204" pitchFamily="34" charset="0"/>
                        <a:ea typeface="Times New Roman" panose="02020603050405020304" pitchFamily="18" charset="0"/>
                        <a:cs typeface="Times New Roman" panose="02020603050405020304" pitchFamily="18" charset="0"/>
                      </a:endParaRPr>
                    </a:p>
                    <a:p>
                      <a:pPr marL="342900" lvl="0" indent="-342900">
                        <a:spcBef>
                          <a:spcPts val="200"/>
                        </a:spcBef>
                        <a:spcAft>
                          <a:spcPts val="200"/>
                        </a:spcAft>
                        <a:buFont typeface="+mj-lt"/>
                        <a:buAutoNum type="arabicPeriod"/>
                      </a:pPr>
                      <a:r>
                        <a:rPr lang="en-GB" sz="1400" dirty="0">
                          <a:effectLst/>
                          <a:latin typeface="Calibri" panose="020F0502020204030204" pitchFamily="34" charset="0"/>
                          <a:ea typeface="Times New Roman" panose="02020603050405020304" pitchFamily="18" charset="0"/>
                          <a:cs typeface="Times New Roman" panose="02020603050405020304" pitchFamily="18" charset="0"/>
                        </a:rPr>
                        <a:t>Strategy, Governance and Organisation (Annalisa)</a:t>
                      </a:r>
                      <a:endParaRPr lang="en-GB" sz="1400" dirty="0">
                        <a:effectLst/>
                        <a:latin typeface="Verdana" panose="020B0604030504040204" pitchFamily="34" charset="0"/>
                        <a:ea typeface="Times New Roman" panose="02020603050405020304" pitchFamily="18" charset="0"/>
                        <a:cs typeface="Times New Roman" panose="02020603050405020304" pitchFamily="18" charset="0"/>
                      </a:endParaRPr>
                    </a:p>
                    <a:p>
                      <a:pPr marL="342900" lvl="0" indent="-342900">
                        <a:spcBef>
                          <a:spcPts val="200"/>
                        </a:spcBef>
                        <a:spcAft>
                          <a:spcPts val="200"/>
                        </a:spcAft>
                        <a:buFont typeface="+mj-lt"/>
                        <a:buAutoNum type="arabicPeriod"/>
                      </a:pPr>
                      <a:r>
                        <a:rPr lang="en-GB" sz="1400" dirty="0">
                          <a:effectLst/>
                          <a:latin typeface="Calibri" panose="020F0502020204030204" pitchFamily="34" charset="0"/>
                          <a:ea typeface="Times New Roman" panose="02020603050405020304" pitchFamily="18" charset="0"/>
                          <a:cs typeface="Times New Roman" panose="02020603050405020304" pitchFamily="18" charset="0"/>
                        </a:rPr>
                        <a:t>People, Skills and Ways of Working (Simon)</a:t>
                      </a:r>
                      <a:endParaRPr lang="en-GB" sz="1400" dirty="0">
                        <a:effectLst/>
                        <a:latin typeface="Verdana" panose="020B0604030504040204" pitchFamily="34" charset="0"/>
                        <a:ea typeface="Times New Roman" panose="02020603050405020304" pitchFamily="18" charset="0"/>
                        <a:cs typeface="Times New Roman" panose="02020603050405020304" pitchFamily="18" charset="0"/>
                      </a:endParaRPr>
                    </a:p>
                    <a:p>
                      <a:pPr marL="342900" lvl="0" indent="-342900">
                        <a:spcBef>
                          <a:spcPts val="200"/>
                        </a:spcBef>
                        <a:spcAft>
                          <a:spcPts val="200"/>
                        </a:spcAft>
                        <a:buFont typeface="+mj-lt"/>
                        <a:buAutoNum type="arabicPeriod"/>
                      </a:pPr>
                      <a:r>
                        <a:rPr lang="en-GB" sz="1400" dirty="0">
                          <a:effectLst/>
                          <a:latin typeface="Calibri" panose="020F0502020204030204" pitchFamily="34" charset="0"/>
                          <a:ea typeface="Times New Roman" panose="02020603050405020304" pitchFamily="18" charset="0"/>
                          <a:cs typeface="Arial" panose="020B0604020202020204" pitchFamily="34" charset="0"/>
                        </a:rPr>
                        <a:t>Data, Technologies and Infrastructure (Martin)</a:t>
                      </a:r>
                      <a:endParaRPr lang="en-GB" sz="1400" dirty="0">
                        <a:effectLst/>
                        <a:latin typeface="Verdana" panose="020B0604030504040204" pitchFamily="34" charset="0"/>
                        <a:ea typeface="Times New Roman" panose="02020603050405020304" pitchFamily="18" charset="0"/>
                        <a:cs typeface="Times New Roman" panose="02020603050405020304" pitchFamily="18" charset="0"/>
                      </a:endParaRPr>
                    </a:p>
                    <a:p>
                      <a:pPr marL="342900" lvl="0" indent="-342900">
                        <a:spcBef>
                          <a:spcPts val="200"/>
                        </a:spcBef>
                        <a:spcAft>
                          <a:spcPts val="200"/>
                        </a:spcAft>
                        <a:buFont typeface="+mj-lt"/>
                        <a:buAutoNum type="arabicPeriod"/>
                      </a:pPr>
                      <a:r>
                        <a:rPr lang="en-GB" sz="1400" dirty="0">
                          <a:effectLst/>
                          <a:latin typeface="Calibri" panose="020F0502020204030204" pitchFamily="34" charset="0"/>
                          <a:ea typeface="Times New Roman" panose="02020603050405020304" pitchFamily="18" charset="0"/>
                          <a:cs typeface="Arial" panose="020B0604020202020204" pitchFamily="34" charset="0"/>
                        </a:rPr>
                        <a:t>AI Applications and Value Creation (Gregor)</a:t>
                      </a:r>
                      <a:endParaRPr lang="en-GB" sz="14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1421963"/>
                  </a:ext>
                </a:extLst>
              </a:tr>
              <a:tr h="203990">
                <a:tc>
                  <a:txBody>
                    <a:bodyPr/>
                    <a:lstStyle/>
                    <a:p>
                      <a:pPr>
                        <a:spcBef>
                          <a:spcPts val="200"/>
                        </a:spcBef>
                        <a:spcAft>
                          <a:spcPts val="200"/>
                        </a:spcAft>
                        <a:buNone/>
                      </a:pPr>
                      <a:r>
                        <a:rPr lang="en-US" sz="1400">
                          <a:effectLst/>
                          <a:latin typeface="Calibri" panose="020F0502020204030204" pitchFamily="34" charset="0"/>
                          <a:ea typeface="Times New Roman" panose="02020603050405020304" pitchFamily="18" charset="0"/>
                          <a:cs typeface="Times New Roman" panose="02020603050405020304" pitchFamily="18" charset="0"/>
                        </a:rPr>
                        <a:t>14:50 – 15:05</a:t>
                      </a:r>
                      <a:endParaRPr lang="en-GB" sz="14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spcBef>
                          <a:spcPts val="200"/>
                        </a:spcBef>
                        <a:spcAft>
                          <a:spcPts val="200"/>
                        </a:spcAft>
                        <a:buNone/>
                      </a:pPr>
                      <a:r>
                        <a:rPr lang="en-GB" sz="1400">
                          <a:effectLst/>
                          <a:latin typeface="Calibri" panose="020F0502020204030204" pitchFamily="34" charset="0"/>
                          <a:ea typeface="Times New Roman" panose="02020603050405020304" pitchFamily="18" charset="0"/>
                          <a:cs typeface="Times New Roman" panose="02020603050405020304" pitchFamily="18" charset="0"/>
                        </a:rPr>
                        <a:t>Coffee Break</a:t>
                      </a:r>
                      <a:endParaRPr lang="en-GB" sz="14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24388356"/>
                  </a:ext>
                </a:extLst>
              </a:tr>
              <a:tr h="203990">
                <a:tc>
                  <a:txBody>
                    <a:bodyPr/>
                    <a:lstStyle/>
                    <a:p>
                      <a:pPr>
                        <a:spcBef>
                          <a:spcPts val="200"/>
                        </a:spcBef>
                        <a:spcAft>
                          <a:spcPts val="200"/>
                        </a:spcAft>
                        <a:buNone/>
                      </a:pPr>
                      <a:r>
                        <a:rPr lang="en-US" sz="1400">
                          <a:effectLst/>
                          <a:latin typeface="Calibri" panose="020F0502020204030204" pitchFamily="34" charset="0"/>
                          <a:ea typeface="Times New Roman" panose="02020603050405020304" pitchFamily="18" charset="0"/>
                          <a:cs typeface="Times New Roman" panose="02020603050405020304" pitchFamily="18" charset="0"/>
                        </a:rPr>
                        <a:t>15:05 - 16:20</a:t>
                      </a:r>
                      <a:endParaRPr lang="en-GB" sz="14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spcBef>
                          <a:spcPts val="200"/>
                        </a:spcBef>
                        <a:spcAft>
                          <a:spcPts val="200"/>
                        </a:spcAft>
                        <a:buNone/>
                      </a:pPr>
                      <a:r>
                        <a:rPr lang="en-GB" sz="1400" b="1">
                          <a:effectLst/>
                          <a:latin typeface="Calibri" panose="020F0502020204030204" pitchFamily="34" charset="0"/>
                          <a:ea typeface="Times New Roman" panose="02020603050405020304" pitchFamily="18" charset="0"/>
                          <a:cs typeface="Times New Roman" panose="02020603050405020304" pitchFamily="18" charset="0"/>
                        </a:rPr>
                        <a:t>Parallel sessions on T1 Strategy, T4 Use Cases</a:t>
                      </a:r>
                      <a:endParaRPr lang="en-GB" sz="14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6462363"/>
                  </a:ext>
                </a:extLst>
              </a:tr>
              <a:tr h="203990">
                <a:tc>
                  <a:txBody>
                    <a:bodyPr/>
                    <a:lstStyle/>
                    <a:p>
                      <a:pPr>
                        <a:spcBef>
                          <a:spcPts val="200"/>
                        </a:spcBef>
                        <a:spcAft>
                          <a:spcPts val="200"/>
                        </a:spcAft>
                        <a:buNone/>
                      </a:pPr>
                      <a:r>
                        <a:rPr lang="en-US" sz="1400">
                          <a:effectLst/>
                          <a:latin typeface="Calibri" panose="020F0502020204030204" pitchFamily="34" charset="0"/>
                          <a:ea typeface="Times New Roman" panose="02020603050405020304" pitchFamily="18" charset="0"/>
                          <a:cs typeface="Times New Roman" panose="02020603050405020304" pitchFamily="18" charset="0"/>
                        </a:rPr>
                        <a:t>16:20 – 16:35</a:t>
                      </a:r>
                      <a:endParaRPr lang="en-GB" sz="14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spcBef>
                          <a:spcPts val="200"/>
                        </a:spcBef>
                        <a:spcAft>
                          <a:spcPts val="200"/>
                        </a:spcAft>
                        <a:buNone/>
                      </a:pPr>
                      <a:r>
                        <a:rPr lang="en-GB" sz="1400">
                          <a:effectLst/>
                          <a:latin typeface="Calibri" panose="020F0502020204030204" pitchFamily="34" charset="0"/>
                          <a:ea typeface="Times New Roman" panose="02020603050405020304" pitchFamily="18" charset="0"/>
                          <a:cs typeface="Times New Roman" panose="02020603050405020304" pitchFamily="18" charset="0"/>
                        </a:rPr>
                        <a:t>Small exercise to get fresh for the last topic</a:t>
                      </a:r>
                      <a:endParaRPr lang="en-GB" sz="14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73270671"/>
                  </a:ext>
                </a:extLst>
              </a:tr>
              <a:tr h="203990">
                <a:tc>
                  <a:txBody>
                    <a:bodyPr/>
                    <a:lstStyle/>
                    <a:p>
                      <a:pPr>
                        <a:spcBef>
                          <a:spcPts val="200"/>
                        </a:spcBef>
                        <a:spcAft>
                          <a:spcPts val="200"/>
                        </a:spcAft>
                        <a:buNone/>
                      </a:pPr>
                      <a:r>
                        <a:rPr lang="en-US" sz="1400">
                          <a:effectLst/>
                          <a:latin typeface="Calibri" panose="020F0502020204030204" pitchFamily="34" charset="0"/>
                          <a:ea typeface="Times New Roman" panose="02020603050405020304" pitchFamily="18" charset="0"/>
                          <a:cs typeface="Times New Roman" panose="02020603050405020304" pitchFamily="18" charset="0"/>
                        </a:rPr>
                        <a:t>16:35 – 17:50</a:t>
                      </a:r>
                      <a:endParaRPr lang="en-GB" sz="14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spcBef>
                          <a:spcPts val="200"/>
                        </a:spcBef>
                        <a:spcAft>
                          <a:spcPts val="200"/>
                        </a:spcAft>
                        <a:buNone/>
                      </a:pPr>
                      <a:r>
                        <a:rPr lang="en-GB" sz="1400" b="1">
                          <a:effectLst/>
                          <a:latin typeface="Calibri" panose="020F0502020204030204" pitchFamily="34" charset="0"/>
                          <a:ea typeface="Times New Roman" panose="02020603050405020304" pitchFamily="18" charset="0"/>
                          <a:cs typeface="Times New Roman" panose="02020603050405020304" pitchFamily="18" charset="0"/>
                        </a:rPr>
                        <a:t>Parallel sessions on </a:t>
                      </a:r>
                      <a:r>
                        <a:rPr lang="de-DE" sz="1400" b="1">
                          <a:effectLst/>
                          <a:latin typeface="Calibri" panose="020F0502020204030204" pitchFamily="34" charset="0"/>
                          <a:ea typeface="Times New Roman" panose="02020603050405020304" pitchFamily="18" charset="0"/>
                          <a:cs typeface="Times New Roman" panose="02020603050405020304" pitchFamily="18" charset="0"/>
                        </a:rPr>
                        <a:t>T2 Digital Skills, T3 Technology </a:t>
                      </a:r>
                      <a:endParaRPr lang="en-GB" sz="14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2019366"/>
                  </a:ext>
                </a:extLst>
              </a:tr>
              <a:tr h="456550">
                <a:tc>
                  <a:txBody>
                    <a:bodyPr/>
                    <a:lstStyle/>
                    <a:p>
                      <a:pPr>
                        <a:spcBef>
                          <a:spcPts val="200"/>
                        </a:spcBef>
                        <a:spcAft>
                          <a:spcPts val="200"/>
                        </a:spcAft>
                        <a:buNone/>
                      </a:pPr>
                      <a:r>
                        <a:rPr lang="en-US" sz="1400" dirty="0">
                          <a:effectLst/>
                          <a:latin typeface="Calibri" panose="020F0502020204030204" pitchFamily="34" charset="0"/>
                          <a:ea typeface="Times New Roman" panose="02020603050405020304" pitchFamily="18" charset="0"/>
                          <a:cs typeface="Times New Roman" panose="02020603050405020304" pitchFamily="18" charset="0"/>
                        </a:rPr>
                        <a:t>17:50 – 18:00</a:t>
                      </a:r>
                      <a:endParaRPr lang="en-GB" sz="14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spcBef>
                          <a:spcPts val="200"/>
                        </a:spcBef>
                        <a:spcAft>
                          <a:spcPts val="200"/>
                        </a:spcAft>
                        <a:buNone/>
                      </a:pPr>
                      <a:r>
                        <a:rPr lang="en-US" sz="1400" b="1" dirty="0">
                          <a:effectLst/>
                          <a:latin typeface="Calibri" panose="020F0502020204030204" pitchFamily="34" charset="0"/>
                          <a:ea typeface="Times New Roman" panose="02020603050405020304" pitchFamily="18" charset="0"/>
                          <a:cs typeface="Times New Roman" panose="02020603050405020304" pitchFamily="18" charset="0"/>
                        </a:rPr>
                        <a:t>Check Out - </a:t>
                      </a:r>
                      <a:r>
                        <a:rPr lang="en-US" sz="1400" b="1" dirty="0" err="1">
                          <a:effectLst/>
                          <a:latin typeface="Calibri" panose="020F0502020204030204" pitchFamily="34" charset="0"/>
                          <a:ea typeface="Times New Roman" panose="02020603050405020304" pitchFamily="18" charset="0"/>
                          <a:cs typeface="Times New Roman" panose="02020603050405020304" pitchFamily="18" charset="0"/>
                        </a:rPr>
                        <a:t>Wordcloud</a:t>
                      </a:r>
                      <a:endParaRPr lang="en-GB" sz="1400" dirty="0">
                        <a:effectLst/>
                        <a:latin typeface="Verdana" panose="020B0604030504040204" pitchFamily="34" charset="0"/>
                        <a:ea typeface="Times New Roman" panose="02020603050405020304" pitchFamily="18" charset="0"/>
                        <a:cs typeface="Times New Roman" panose="02020603050405020304" pitchFamily="18" charset="0"/>
                      </a:endParaRPr>
                    </a:p>
                    <a:p>
                      <a:pPr>
                        <a:spcBef>
                          <a:spcPts val="200"/>
                        </a:spcBef>
                        <a:spcAft>
                          <a:spcPts val="200"/>
                        </a:spcAft>
                        <a:buNone/>
                      </a:pPr>
                      <a:r>
                        <a:rPr lang="en-US" sz="1400" dirty="0">
                          <a:effectLst/>
                          <a:latin typeface="Calibri" panose="020F0502020204030204" pitchFamily="34" charset="0"/>
                          <a:ea typeface="Times New Roman" panose="02020603050405020304" pitchFamily="18" charset="0"/>
                          <a:cs typeface="Times New Roman" panose="02020603050405020304" pitchFamily="18" charset="0"/>
                        </a:rPr>
                        <a:t> Top of mind</a:t>
                      </a:r>
                      <a:endParaRPr lang="en-GB" sz="14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31779998"/>
                  </a:ext>
                </a:extLst>
              </a:tr>
              <a:tr h="206602">
                <a:tc>
                  <a:txBody>
                    <a:bodyPr/>
                    <a:lstStyle/>
                    <a:p>
                      <a:pPr>
                        <a:spcBef>
                          <a:spcPts val="200"/>
                        </a:spcBef>
                        <a:spcAft>
                          <a:spcPts val="200"/>
                        </a:spcAft>
                        <a:buNone/>
                      </a:pPr>
                      <a:r>
                        <a:rPr lang="en-US" sz="1400">
                          <a:effectLst/>
                          <a:latin typeface="Calibri" panose="020F0502020204030204" pitchFamily="34" charset="0"/>
                          <a:ea typeface="Times New Roman" panose="02020603050405020304" pitchFamily="18" charset="0"/>
                          <a:cs typeface="Times New Roman" panose="02020603050405020304" pitchFamily="18" charset="0"/>
                        </a:rPr>
                        <a:t>18:30</a:t>
                      </a:r>
                      <a:endParaRPr lang="en-GB" sz="14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600"/>
                        </a:spcAft>
                        <a:buNone/>
                      </a:pPr>
                      <a:r>
                        <a:rPr lang="en-US" sz="1400" b="1" i="1" dirty="0">
                          <a:effectLst/>
                          <a:latin typeface="Calibri" panose="020F0502020204030204" pitchFamily="34" charset="0"/>
                          <a:ea typeface="Times New Roman" panose="02020603050405020304" pitchFamily="18" charset="0"/>
                          <a:cs typeface="Arial" panose="020B0604020202020204" pitchFamily="34" charset="0"/>
                        </a:rPr>
                        <a:t>Dinner: EEA Canteen </a:t>
                      </a:r>
                      <a:r>
                        <a:rPr lang="en-US" sz="1400" b="0" i="1" dirty="0">
                          <a:effectLst/>
                          <a:latin typeface="Calibri" panose="020F0502020204030204" pitchFamily="34" charset="0"/>
                          <a:ea typeface="Times New Roman" panose="02020603050405020304" pitchFamily="18" charset="0"/>
                          <a:cs typeface="Arial" panose="020B0604020202020204" pitchFamily="34" charset="0"/>
                        </a:rPr>
                        <a:t>– Any Vegetarians or allergies?</a:t>
                      </a:r>
                      <a:endParaRPr lang="en-GB" sz="1400" b="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42420589"/>
                  </a:ext>
                </a:extLst>
              </a:tr>
            </a:tbl>
          </a:graphicData>
        </a:graphic>
      </p:graphicFrame>
      <p:sp>
        <p:nvSpPr>
          <p:cNvPr id="10" name="TextBox 9">
            <a:extLst>
              <a:ext uri="{FF2B5EF4-FFF2-40B4-BE49-F238E27FC236}">
                <a16:creationId xmlns:a16="http://schemas.microsoft.com/office/drawing/2014/main" id="{9A1025F9-BC78-6879-2CA8-952C1C321E96}"/>
              </a:ext>
            </a:extLst>
          </p:cNvPr>
          <p:cNvSpPr txBox="1"/>
          <p:nvPr/>
        </p:nvSpPr>
        <p:spPr>
          <a:xfrm>
            <a:off x="647700" y="932191"/>
            <a:ext cx="6096000" cy="907941"/>
          </a:xfrm>
          <a:prstGeom prst="rect">
            <a:avLst/>
          </a:prstGeom>
          <a:noFill/>
        </p:spPr>
        <p:txBody>
          <a:bodyPr wrap="square">
            <a:spAutoFit/>
          </a:bodyPr>
          <a:lstStyle/>
          <a:p>
            <a:pPr>
              <a:spcBef>
                <a:spcPts val="1600"/>
              </a:spcBef>
              <a:spcAft>
                <a:spcPts val="600"/>
              </a:spcAft>
              <a:buNone/>
            </a:pPr>
            <a:r>
              <a:rPr lang="en-US" sz="2400" b="1" dirty="0">
                <a:effectLst/>
                <a:latin typeface="Calibri" panose="020F0502020204030204" pitchFamily="34" charset="0"/>
                <a:ea typeface="Times New Roman" panose="02020603050405020304" pitchFamily="18" charset="0"/>
                <a:cs typeface="Times New Roman" panose="02020603050405020304" pitchFamily="18" charset="0"/>
              </a:rPr>
              <a:t>Tuesday, 29 September</a:t>
            </a:r>
            <a:endParaRPr lang="en-GB" sz="2400" dirty="0">
              <a:effectLst/>
              <a:latin typeface="Verdana" panose="020B0604030504040204" pitchFamily="34" charset="0"/>
              <a:ea typeface="Times New Roman" panose="02020603050405020304" pitchFamily="18" charset="0"/>
              <a:cs typeface="Times New Roman" panose="02020603050405020304" pitchFamily="18" charset="0"/>
            </a:endParaRPr>
          </a:p>
          <a:p>
            <a:pPr>
              <a:buNone/>
            </a:pPr>
            <a:r>
              <a:rPr lang="en-US" sz="2400" dirty="0">
                <a:solidFill>
                  <a:srgbClr val="242424"/>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GB" sz="2400" dirty="0">
              <a:effectLst/>
              <a:latin typeface="Verdana" panose="020B0604030504040204" pitchFamily="34" charset="0"/>
              <a:ea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C2ABDA7B-3A36-011D-9D3B-6A9C9A0F4D0D}"/>
              </a:ext>
            </a:extLst>
          </p:cNvPr>
          <p:cNvSpPr txBox="1"/>
          <p:nvPr/>
        </p:nvSpPr>
        <p:spPr>
          <a:xfrm>
            <a:off x="647700" y="1287363"/>
            <a:ext cx="6096000" cy="769441"/>
          </a:xfrm>
          <a:prstGeom prst="rect">
            <a:avLst/>
          </a:prstGeom>
          <a:noFill/>
        </p:spPr>
        <p:txBody>
          <a:bodyPr wrap="square">
            <a:spAutoFit/>
          </a:bodyPr>
          <a:lstStyle/>
          <a:p>
            <a:pPr>
              <a:buNone/>
            </a:pPr>
            <a:endParaRPr lang="en-US" sz="1100" b="1" dirty="0">
              <a:effectLst/>
              <a:latin typeface="Calibri" panose="020F0502020204030204" pitchFamily="34" charset="0"/>
              <a:ea typeface="Times New Roman" panose="02020603050405020304" pitchFamily="18" charset="0"/>
              <a:cs typeface="Times New Roman" panose="02020603050405020304" pitchFamily="18" charset="0"/>
            </a:endParaRPr>
          </a:p>
          <a:p>
            <a:pPr>
              <a:buNone/>
            </a:pPr>
            <a:r>
              <a:rPr lang="en-US" sz="1100" b="1" dirty="0">
                <a:effectLst/>
                <a:latin typeface="Calibri" panose="020F0502020204030204" pitchFamily="34" charset="0"/>
                <a:ea typeface="Times New Roman" panose="02020603050405020304" pitchFamily="18" charset="0"/>
                <a:cs typeface="Times New Roman" panose="02020603050405020304" pitchFamily="18" charset="0"/>
              </a:rPr>
              <a:t>Venue: </a:t>
            </a:r>
            <a:r>
              <a:rPr lang="en-GB" sz="1100" b="1" dirty="0">
                <a:effectLst/>
                <a:latin typeface="Calibri" panose="020F0502020204030204" pitchFamily="34" charset="0"/>
                <a:ea typeface="Times New Roman" panose="02020603050405020304" pitchFamily="18" charset="0"/>
                <a:cs typeface="Times New Roman" panose="02020603050405020304" pitchFamily="18" charset="0"/>
              </a:rPr>
              <a:t>Fontana Room</a:t>
            </a:r>
            <a:endParaRPr lang="en-GB" sz="1000" dirty="0">
              <a:effectLst/>
              <a:latin typeface="Verdana" panose="020B0604030504040204" pitchFamily="34" charset="0"/>
              <a:ea typeface="Times New Roman" panose="02020603050405020304" pitchFamily="18" charset="0"/>
              <a:cs typeface="Times New Roman" panose="02020603050405020304" pitchFamily="18" charset="0"/>
            </a:endParaRPr>
          </a:p>
          <a:p>
            <a:pPr>
              <a:buNone/>
            </a:pPr>
            <a:r>
              <a:rPr lang="en-US" sz="1100" b="1"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GB" sz="1000" dirty="0">
              <a:effectLst/>
              <a:latin typeface="Verdana" panose="020B0604030504040204" pitchFamily="34" charset="0"/>
              <a:ea typeface="Times New Roman" panose="02020603050405020304" pitchFamily="18" charset="0"/>
              <a:cs typeface="Times New Roman" panose="02020603050405020304" pitchFamily="18" charset="0"/>
            </a:endParaRPr>
          </a:p>
          <a:p>
            <a:pPr>
              <a:buNone/>
            </a:pPr>
            <a:r>
              <a:rPr lang="en-GB" sz="1100" b="1" dirty="0">
                <a:effectLst/>
                <a:latin typeface="Calibri" panose="020F0502020204030204" pitchFamily="34" charset="0"/>
                <a:ea typeface="Times New Roman" panose="02020603050405020304" pitchFamily="18" charset="0"/>
                <a:cs typeface="Arial" panose="020B0604020202020204" pitchFamily="34" charset="0"/>
              </a:rPr>
              <a:t> </a:t>
            </a:r>
            <a:endParaRPr lang="en-GB" dirty="0"/>
          </a:p>
        </p:txBody>
      </p:sp>
    </p:spTree>
    <p:extLst>
      <p:ext uri="{BB962C8B-B14F-4D97-AF65-F5344CB8AC3E}">
        <p14:creationId xmlns:p14="http://schemas.microsoft.com/office/powerpoint/2010/main" val="1437424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59CD0-6C2E-B617-DB07-E08C2A7A3D1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4E3256E-CB49-43DD-6853-DC7FFE094B39}"/>
              </a:ext>
            </a:extLst>
          </p:cNvPr>
          <p:cNvSpPr>
            <a:spLocks noGrp="1"/>
          </p:cNvSpPr>
          <p:nvPr>
            <p:ph type="body" sz="quarter" idx="10"/>
          </p:nvPr>
        </p:nvSpPr>
        <p:spPr/>
        <p:txBody>
          <a:bodyPr/>
          <a:lstStyle/>
          <a:p>
            <a:r>
              <a:rPr lang="da-DK" dirty="0"/>
              <a:t>Agenda</a:t>
            </a:r>
            <a:endParaRPr lang="en-GB" dirty="0"/>
          </a:p>
        </p:txBody>
      </p:sp>
      <p:graphicFrame>
        <p:nvGraphicFramePr>
          <p:cNvPr id="6" name="Table 5">
            <a:extLst>
              <a:ext uri="{FF2B5EF4-FFF2-40B4-BE49-F238E27FC236}">
                <a16:creationId xmlns:a16="http://schemas.microsoft.com/office/drawing/2014/main" id="{C8F639BF-6A9D-ADDA-97F3-E373C9B152AA}"/>
              </a:ext>
            </a:extLst>
          </p:cNvPr>
          <p:cNvGraphicFramePr>
            <a:graphicFrameLocks noGrp="1"/>
          </p:cNvGraphicFramePr>
          <p:nvPr>
            <p:extLst>
              <p:ext uri="{D42A27DB-BD31-4B8C-83A1-F6EECF244321}">
                <p14:modId xmlns:p14="http://schemas.microsoft.com/office/powerpoint/2010/main" val="1217632070"/>
              </p:ext>
            </p:extLst>
          </p:nvPr>
        </p:nvGraphicFramePr>
        <p:xfrm>
          <a:off x="838200" y="1924050"/>
          <a:ext cx="8820150" cy="3648074"/>
        </p:xfrm>
        <a:graphic>
          <a:graphicData uri="http://schemas.openxmlformats.org/drawingml/2006/table">
            <a:tbl>
              <a:tblPr/>
              <a:tblGrid>
                <a:gridCol w="1552457">
                  <a:extLst>
                    <a:ext uri="{9D8B030D-6E8A-4147-A177-3AD203B41FA5}">
                      <a16:colId xmlns:a16="http://schemas.microsoft.com/office/drawing/2014/main" val="2657495676"/>
                    </a:ext>
                  </a:extLst>
                </a:gridCol>
                <a:gridCol w="7267693">
                  <a:extLst>
                    <a:ext uri="{9D8B030D-6E8A-4147-A177-3AD203B41FA5}">
                      <a16:colId xmlns:a16="http://schemas.microsoft.com/office/drawing/2014/main" val="955236224"/>
                    </a:ext>
                  </a:extLst>
                </a:gridCol>
              </a:tblGrid>
              <a:tr h="687974">
                <a:tc>
                  <a:txBody>
                    <a:bodyPr/>
                    <a:lstStyle/>
                    <a:p>
                      <a:pPr>
                        <a:spcBef>
                          <a:spcPts val="200"/>
                        </a:spcBef>
                        <a:spcAft>
                          <a:spcPts val="200"/>
                        </a:spcAft>
                        <a:buNone/>
                      </a:pPr>
                      <a:r>
                        <a:rPr lang="en-US" sz="1400" dirty="0">
                          <a:effectLst/>
                          <a:latin typeface="Calibri" panose="020F0502020204030204" pitchFamily="34" charset="0"/>
                          <a:ea typeface="Times New Roman" panose="02020603050405020304" pitchFamily="18" charset="0"/>
                          <a:cs typeface="Times New Roman" panose="02020603050405020304" pitchFamily="18" charset="0"/>
                        </a:rPr>
                        <a:t>09:00 – 09:20</a:t>
                      </a:r>
                      <a:endParaRPr lang="en-GB" sz="14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spcBef>
                          <a:spcPts val="200"/>
                        </a:spcBef>
                        <a:spcAft>
                          <a:spcPts val="200"/>
                        </a:spcAft>
                        <a:buNone/>
                      </a:pPr>
                      <a:r>
                        <a:rPr lang="en-GB" sz="1400" b="1">
                          <a:effectLst/>
                          <a:latin typeface="Calibri" panose="020F0502020204030204" pitchFamily="34" charset="0"/>
                          <a:ea typeface="Times New Roman" panose="02020603050405020304" pitchFamily="18" charset="0"/>
                          <a:cs typeface="Arial" panose="020B0604020202020204" pitchFamily="34" charset="0"/>
                        </a:rPr>
                        <a:t>Gallery Walk - </a:t>
                      </a:r>
                      <a:r>
                        <a:rPr lang="en-GB" sz="1400">
                          <a:effectLst/>
                          <a:latin typeface="Calibri" panose="020F0502020204030204" pitchFamily="34" charset="0"/>
                          <a:ea typeface="Times New Roman" panose="02020603050405020304" pitchFamily="18" charset="0"/>
                          <a:cs typeface="Arial" panose="020B0604020202020204" pitchFamily="34" charset="0"/>
                        </a:rPr>
                        <a:t>Recap on yesterday for the four areas</a:t>
                      </a:r>
                      <a:endParaRPr lang="en-GB" sz="1400">
                        <a:effectLst/>
                        <a:latin typeface="Verdana" panose="020B0604030504040204" pitchFamily="34" charset="0"/>
                        <a:ea typeface="Times New Roman" panose="02020603050405020304" pitchFamily="18" charset="0"/>
                        <a:cs typeface="Times New Roman" panose="02020603050405020304" pitchFamily="18" charset="0"/>
                      </a:endParaRPr>
                    </a:p>
                    <a:p>
                      <a:pPr>
                        <a:spcBef>
                          <a:spcPts val="200"/>
                        </a:spcBef>
                        <a:spcAft>
                          <a:spcPts val="200"/>
                        </a:spcAft>
                        <a:buNone/>
                      </a:pPr>
                      <a:r>
                        <a:rPr lang="en-GB" sz="1400" b="1">
                          <a:effectLst/>
                          <a:latin typeface="Calibri" panose="020F0502020204030204" pitchFamily="34" charset="0"/>
                          <a:ea typeface="Times New Roman" panose="02020603050405020304" pitchFamily="18" charset="0"/>
                          <a:cs typeface="Arial" panose="020B0604020202020204" pitchFamily="34" charset="0"/>
                        </a:rPr>
                        <a:t> </a:t>
                      </a:r>
                      <a:endParaRPr lang="en-GB" sz="14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27898488"/>
                  </a:ext>
                </a:extLst>
              </a:tr>
              <a:tr h="687974">
                <a:tc>
                  <a:txBody>
                    <a:bodyPr/>
                    <a:lstStyle/>
                    <a:p>
                      <a:pPr>
                        <a:spcBef>
                          <a:spcPts val="200"/>
                        </a:spcBef>
                        <a:spcAft>
                          <a:spcPts val="200"/>
                        </a:spcAft>
                        <a:buNone/>
                      </a:pPr>
                      <a:r>
                        <a:rPr lang="en-US" sz="1400">
                          <a:effectLst/>
                          <a:latin typeface="Calibri" panose="020F0502020204030204" pitchFamily="34" charset="0"/>
                          <a:ea typeface="Times New Roman" panose="02020603050405020304" pitchFamily="18" charset="0"/>
                          <a:cs typeface="Times New Roman" panose="02020603050405020304" pitchFamily="18" charset="0"/>
                        </a:rPr>
                        <a:t>09:20 – 10:30</a:t>
                      </a:r>
                      <a:endParaRPr lang="en-GB" sz="14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spcBef>
                          <a:spcPts val="200"/>
                        </a:spcBef>
                        <a:spcAft>
                          <a:spcPts val="200"/>
                        </a:spcAft>
                        <a:buNone/>
                      </a:pPr>
                      <a:r>
                        <a:rPr lang="en-GB" sz="1400" b="1" dirty="0">
                          <a:effectLst/>
                          <a:latin typeface="Calibri" panose="020F0502020204030204" pitchFamily="34" charset="0"/>
                          <a:ea typeface="Times New Roman" panose="02020603050405020304" pitchFamily="18" charset="0"/>
                          <a:cs typeface="Times New Roman" panose="02020603050405020304" pitchFamily="18" charset="0"/>
                        </a:rPr>
                        <a:t>Build the roadmap Session 1 </a:t>
                      </a:r>
                      <a:endParaRPr lang="en-GB" sz="1400" dirty="0">
                        <a:effectLst/>
                        <a:latin typeface="Verdana" panose="020B0604030504040204" pitchFamily="34" charset="0"/>
                        <a:ea typeface="Times New Roman" panose="02020603050405020304" pitchFamily="18" charset="0"/>
                        <a:cs typeface="Times New Roman" panose="02020603050405020304" pitchFamily="18" charset="0"/>
                      </a:endParaRPr>
                    </a:p>
                    <a:p>
                      <a:pPr>
                        <a:spcBef>
                          <a:spcPts val="200"/>
                        </a:spcBef>
                        <a:spcAft>
                          <a:spcPts val="200"/>
                        </a:spcAft>
                        <a:buNone/>
                      </a:pPr>
                      <a:r>
                        <a:rPr lang="en-GB" sz="1400" b="1" dirty="0">
                          <a:effectLst/>
                          <a:latin typeface="Calibri" panose="020F0502020204030204" pitchFamily="34" charset="0"/>
                          <a:ea typeface="Times New Roman" panose="02020603050405020304" pitchFamily="18" charset="0"/>
                          <a:cs typeface="Arial" panose="020B0604020202020204" pitchFamily="34" charset="0"/>
                        </a:rPr>
                        <a:t> </a:t>
                      </a:r>
                      <a:endParaRPr lang="en-GB" sz="14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4253576"/>
                  </a:ext>
                </a:extLst>
              </a:tr>
              <a:tr h="298726">
                <a:tc>
                  <a:txBody>
                    <a:bodyPr/>
                    <a:lstStyle/>
                    <a:p>
                      <a:pPr>
                        <a:spcBef>
                          <a:spcPts val="200"/>
                        </a:spcBef>
                        <a:spcAft>
                          <a:spcPts val="200"/>
                        </a:spcAft>
                        <a:buNone/>
                      </a:pPr>
                      <a:r>
                        <a:rPr lang="en-US" sz="1400">
                          <a:effectLst/>
                          <a:latin typeface="Calibri" panose="020F0502020204030204" pitchFamily="34" charset="0"/>
                          <a:ea typeface="Times New Roman" panose="02020603050405020304" pitchFamily="18" charset="0"/>
                          <a:cs typeface="Times New Roman" panose="02020603050405020304" pitchFamily="18" charset="0"/>
                        </a:rPr>
                        <a:t>10:30 – 10:45</a:t>
                      </a:r>
                      <a:endParaRPr lang="en-GB" sz="14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spcBef>
                          <a:spcPts val="200"/>
                        </a:spcBef>
                        <a:spcAft>
                          <a:spcPts val="200"/>
                        </a:spcAft>
                        <a:buNone/>
                      </a:pPr>
                      <a:r>
                        <a:rPr lang="en-GB" sz="1400" b="1">
                          <a:effectLst/>
                          <a:latin typeface="Calibri" panose="020F0502020204030204" pitchFamily="34" charset="0"/>
                          <a:ea typeface="Times New Roman" panose="02020603050405020304" pitchFamily="18" charset="0"/>
                          <a:cs typeface="Times New Roman" panose="02020603050405020304" pitchFamily="18" charset="0"/>
                        </a:rPr>
                        <a:t>Coffee Break</a:t>
                      </a:r>
                      <a:endParaRPr lang="en-GB" sz="14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2462005"/>
                  </a:ext>
                </a:extLst>
              </a:tr>
              <a:tr h="687974">
                <a:tc>
                  <a:txBody>
                    <a:bodyPr/>
                    <a:lstStyle/>
                    <a:p>
                      <a:pPr>
                        <a:spcBef>
                          <a:spcPts val="200"/>
                        </a:spcBef>
                        <a:spcAft>
                          <a:spcPts val="200"/>
                        </a:spcAft>
                        <a:buNone/>
                      </a:pPr>
                      <a:r>
                        <a:rPr lang="en-US" sz="1400">
                          <a:effectLst/>
                          <a:latin typeface="Calibri" panose="020F0502020204030204" pitchFamily="34" charset="0"/>
                          <a:ea typeface="Times New Roman" panose="02020603050405020304" pitchFamily="18" charset="0"/>
                          <a:cs typeface="Times New Roman" panose="02020603050405020304" pitchFamily="18" charset="0"/>
                        </a:rPr>
                        <a:t>10:45 – 12:00</a:t>
                      </a:r>
                      <a:endParaRPr lang="en-GB" sz="14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spcBef>
                          <a:spcPts val="200"/>
                        </a:spcBef>
                        <a:spcAft>
                          <a:spcPts val="200"/>
                        </a:spcAft>
                        <a:buNone/>
                      </a:pPr>
                      <a:r>
                        <a:rPr lang="en-GB" sz="1400" b="1" dirty="0">
                          <a:effectLst/>
                          <a:latin typeface="Calibri" panose="020F0502020204030204" pitchFamily="34" charset="0"/>
                          <a:ea typeface="Times New Roman" panose="02020603050405020304" pitchFamily="18" charset="0"/>
                          <a:cs typeface="Times New Roman" panose="02020603050405020304" pitchFamily="18" charset="0"/>
                        </a:rPr>
                        <a:t>Build the Roadmap – Session 2</a:t>
                      </a:r>
                      <a:endParaRPr lang="en-GB" sz="1400" dirty="0">
                        <a:effectLst/>
                        <a:latin typeface="Verdana" panose="020B0604030504040204" pitchFamily="34" charset="0"/>
                        <a:ea typeface="Times New Roman" panose="02020603050405020304" pitchFamily="18" charset="0"/>
                        <a:cs typeface="Times New Roman" panose="02020603050405020304" pitchFamily="18" charset="0"/>
                      </a:endParaRPr>
                    </a:p>
                    <a:p>
                      <a:pPr>
                        <a:spcBef>
                          <a:spcPts val="200"/>
                        </a:spcBef>
                        <a:spcAft>
                          <a:spcPts val="200"/>
                        </a:spcAft>
                        <a:buNone/>
                      </a:pPr>
                      <a:r>
                        <a:rPr lang="en-GB" sz="1400" b="1"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GB" sz="14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60457565"/>
                  </a:ext>
                </a:extLst>
              </a:tr>
              <a:tr h="298726">
                <a:tc>
                  <a:txBody>
                    <a:bodyPr/>
                    <a:lstStyle/>
                    <a:p>
                      <a:pPr>
                        <a:spcBef>
                          <a:spcPts val="200"/>
                        </a:spcBef>
                        <a:spcAft>
                          <a:spcPts val="200"/>
                        </a:spcAft>
                        <a:buNone/>
                      </a:pPr>
                      <a:r>
                        <a:rPr lang="en-US" sz="1400">
                          <a:effectLst/>
                          <a:latin typeface="Calibri" panose="020F0502020204030204" pitchFamily="34" charset="0"/>
                          <a:ea typeface="Times New Roman" panose="02020603050405020304" pitchFamily="18" charset="0"/>
                          <a:cs typeface="Times New Roman" panose="02020603050405020304" pitchFamily="18" charset="0"/>
                        </a:rPr>
                        <a:t>12:00 – 12:10</a:t>
                      </a:r>
                      <a:endParaRPr lang="en-GB" sz="14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spcBef>
                          <a:spcPts val="200"/>
                        </a:spcBef>
                        <a:spcAft>
                          <a:spcPts val="200"/>
                        </a:spcAft>
                        <a:buNone/>
                      </a:pPr>
                      <a:r>
                        <a:rPr lang="en-GB" sz="1400" b="1">
                          <a:effectLst/>
                          <a:latin typeface="Calibri" panose="020F0502020204030204" pitchFamily="34" charset="0"/>
                          <a:ea typeface="Times New Roman" panose="02020603050405020304" pitchFamily="18" charset="0"/>
                          <a:cs typeface="Times New Roman" panose="02020603050405020304" pitchFamily="18" charset="0"/>
                        </a:rPr>
                        <a:t>Break</a:t>
                      </a:r>
                      <a:endParaRPr lang="en-GB" sz="14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41584535"/>
                  </a:ext>
                </a:extLst>
              </a:tr>
              <a:tr h="687974">
                <a:tc>
                  <a:txBody>
                    <a:bodyPr/>
                    <a:lstStyle/>
                    <a:p>
                      <a:pPr>
                        <a:spcBef>
                          <a:spcPts val="200"/>
                        </a:spcBef>
                        <a:spcAft>
                          <a:spcPts val="200"/>
                        </a:spcAft>
                        <a:buNone/>
                      </a:pPr>
                      <a:r>
                        <a:rPr lang="en-US" sz="1400">
                          <a:effectLst/>
                          <a:latin typeface="Calibri" panose="020F0502020204030204" pitchFamily="34" charset="0"/>
                          <a:ea typeface="Times New Roman" panose="02020603050405020304" pitchFamily="18" charset="0"/>
                          <a:cs typeface="Times New Roman" panose="02020603050405020304" pitchFamily="18" charset="0"/>
                        </a:rPr>
                        <a:t>12:10 – 12:45</a:t>
                      </a:r>
                      <a:endParaRPr lang="en-GB" sz="14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spcBef>
                          <a:spcPts val="200"/>
                        </a:spcBef>
                        <a:spcAft>
                          <a:spcPts val="200"/>
                        </a:spcAft>
                        <a:buNone/>
                      </a:pPr>
                      <a:r>
                        <a:rPr lang="en-GB" sz="1400" b="1" dirty="0">
                          <a:effectLst/>
                          <a:latin typeface="Calibri" panose="020F0502020204030204" pitchFamily="34" charset="0"/>
                          <a:ea typeface="Times New Roman" panose="02020603050405020304" pitchFamily="18" charset="0"/>
                          <a:cs typeface="Times New Roman" panose="02020603050405020304" pitchFamily="18" charset="0"/>
                        </a:rPr>
                        <a:t>Roadmap: How do we want to do it</a:t>
                      </a:r>
                      <a:endParaRPr lang="en-GB" sz="1400" dirty="0">
                        <a:effectLst/>
                        <a:latin typeface="Verdana" panose="020B0604030504040204" pitchFamily="34" charset="0"/>
                        <a:ea typeface="Times New Roman" panose="02020603050405020304" pitchFamily="18" charset="0"/>
                        <a:cs typeface="Times New Roman" panose="02020603050405020304" pitchFamily="18" charset="0"/>
                      </a:endParaRPr>
                    </a:p>
                    <a:p>
                      <a:pPr>
                        <a:spcBef>
                          <a:spcPts val="200"/>
                        </a:spcBef>
                        <a:spcAft>
                          <a:spcPts val="200"/>
                        </a:spcAft>
                        <a:buNone/>
                      </a:pPr>
                      <a:r>
                        <a:rPr lang="en-GB" sz="1400" b="1"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GB" sz="14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95331807"/>
                  </a:ext>
                </a:extLst>
              </a:tr>
              <a:tr h="298726">
                <a:tc>
                  <a:txBody>
                    <a:bodyPr/>
                    <a:lstStyle/>
                    <a:p>
                      <a:pPr>
                        <a:spcBef>
                          <a:spcPts val="200"/>
                        </a:spcBef>
                        <a:spcAft>
                          <a:spcPts val="200"/>
                        </a:spcAft>
                        <a:buNone/>
                      </a:pPr>
                      <a:r>
                        <a:rPr lang="en-US" sz="1400">
                          <a:effectLst/>
                          <a:latin typeface="Calibri" panose="020F0502020204030204" pitchFamily="34" charset="0"/>
                          <a:ea typeface="Times New Roman" panose="02020603050405020304" pitchFamily="18" charset="0"/>
                          <a:cs typeface="Times New Roman" panose="02020603050405020304" pitchFamily="18" charset="0"/>
                        </a:rPr>
                        <a:t>12:45 – 13:00</a:t>
                      </a:r>
                      <a:endParaRPr lang="en-GB" sz="140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spcBef>
                          <a:spcPts val="200"/>
                        </a:spcBef>
                        <a:spcAft>
                          <a:spcPts val="200"/>
                        </a:spcAft>
                        <a:buNone/>
                      </a:pPr>
                      <a:r>
                        <a:rPr lang="en-GB" sz="1400" b="1" dirty="0">
                          <a:effectLst/>
                          <a:latin typeface="Calibri" panose="020F0502020204030204" pitchFamily="34" charset="0"/>
                          <a:ea typeface="Times New Roman" panose="02020603050405020304" pitchFamily="18" charset="0"/>
                          <a:cs typeface="Times New Roman" panose="02020603050405020304" pitchFamily="18" charset="0"/>
                        </a:rPr>
                        <a:t>Check-out: One Word or One phrase – </a:t>
                      </a:r>
                      <a:r>
                        <a:rPr lang="en-GB" sz="1400" dirty="0">
                          <a:effectLst/>
                          <a:latin typeface="Calibri" panose="020F0502020204030204" pitchFamily="34" charset="0"/>
                          <a:ea typeface="Times New Roman" panose="02020603050405020304" pitchFamily="18" charset="0"/>
                          <a:cs typeface="Times New Roman" panose="02020603050405020304" pitchFamily="18" charset="0"/>
                        </a:rPr>
                        <a:t>was your expectations fulfilled?</a:t>
                      </a:r>
                      <a:endParaRPr lang="en-GB" sz="1400" dirty="0">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29849881"/>
                  </a:ext>
                </a:extLst>
              </a:tr>
            </a:tbl>
          </a:graphicData>
        </a:graphic>
      </p:graphicFrame>
      <p:sp>
        <p:nvSpPr>
          <p:cNvPr id="9" name="TextBox 8">
            <a:extLst>
              <a:ext uri="{FF2B5EF4-FFF2-40B4-BE49-F238E27FC236}">
                <a16:creationId xmlns:a16="http://schemas.microsoft.com/office/drawing/2014/main" id="{9F517A38-9A31-315A-5BBF-355E551B561B}"/>
              </a:ext>
            </a:extLst>
          </p:cNvPr>
          <p:cNvSpPr txBox="1"/>
          <p:nvPr/>
        </p:nvSpPr>
        <p:spPr>
          <a:xfrm>
            <a:off x="685800" y="1416673"/>
            <a:ext cx="6096000" cy="600164"/>
          </a:xfrm>
          <a:prstGeom prst="rect">
            <a:avLst/>
          </a:prstGeom>
          <a:noFill/>
        </p:spPr>
        <p:txBody>
          <a:bodyPr wrap="square">
            <a:spAutoFit/>
          </a:bodyPr>
          <a:lstStyle/>
          <a:p>
            <a:pPr>
              <a:buNone/>
            </a:pPr>
            <a:r>
              <a:rPr lang="en-US" sz="1100" b="1" dirty="0">
                <a:effectLst/>
                <a:latin typeface="Calibri" panose="020F0502020204030204" pitchFamily="34" charset="0"/>
                <a:ea typeface="Times New Roman" panose="02020603050405020304" pitchFamily="18" charset="0"/>
                <a:cs typeface="Times New Roman" panose="02020603050405020304" pitchFamily="18" charset="0"/>
              </a:rPr>
              <a:t>Venue: </a:t>
            </a:r>
            <a:r>
              <a:rPr lang="en-GB" sz="1100" b="1" dirty="0">
                <a:effectLst/>
                <a:latin typeface="Calibri" panose="020F0502020204030204" pitchFamily="34" charset="0"/>
                <a:ea typeface="Times New Roman" panose="02020603050405020304" pitchFamily="18" charset="0"/>
                <a:cs typeface="Times New Roman" panose="02020603050405020304" pitchFamily="18" charset="0"/>
              </a:rPr>
              <a:t>Fontana Room</a:t>
            </a:r>
            <a:endParaRPr lang="en-GB" sz="1000" dirty="0">
              <a:effectLst/>
              <a:latin typeface="Verdana" panose="020B0604030504040204" pitchFamily="34" charset="0"/>
              <a:ea typeface="Times New Roman" panose="02020603050405020304" pitchFamily="18" charset="0"/>
              <a:cs typeface="Times New Roman" panose="02020603050405020304" pitchFamily="18" charset="0"/>
            </a:endParaRPr>
          </a:p>
          <a:p>
            <a:pPr>
              <a:buNone/>
            </a:pPr>
            <a:r>
              <a:rPr lang="en-US" sz="1100" b="1"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GB" sz="1000" dirty="0">
              <a:effectLst/>
              <a:latin typeface="Verdana" panose="020B0604030504040204" pitchFamily="34" charset="0"/>
              <a:ea typeface="Times New Roman" panose="02020603050405020304" pitchFamily="18" charset="0"/>
              <a:cs typeface="Times New Roman" panose="02020603050405020304" pitchFamily="18" charset="0"/>
            </a:endParaRPr>
          </a:p>
          <a:p>
            <a:pPr>
              <a:buNone/>
            </a:pPr>
            <a:r>
              <a:rPr lang="en-GB" sz="1100" b="1" dirty="0">
                <a:effectLst/>
                <a:latin typeface="Calibri" panose="020F0502020204030204" pitchFamily="34" charset="0"/>
                <a:ea typeface="Times New Roman" panose="02020603050405020304" pitchFamily="18" charset="0"/>
                <a:cs typeface="Arial" panose="020B0604020202020204" pitchFamily="34" charset="0"/>
              </a:rPr>
              <a:t> </a:t>
            </a:r>
            <a:endParaRPr lang="en-GB" dirty="0"/>
          </a:p>
        </p:txBody>
      </p:sp>
      <p:sp>
        <p:nvSpPr>
          <p:cNvPr id="12" name="TextBox 11">
            <a:extLst>
              <a:ext uri="{FF2B5EF4-FFF2-40B4-BE49-F238E27FC236}">
                <a16:creationId xmlns:a16="http://schemas.microsoft.com/office/drawing/2014/main" id="{76DD92A7-F797-077B-5156-E5E3004C3756}"/>
              </a:ext>
            </a:extLst>
          </p:cNvPr>
          <p:cNvSpPr txBox="1"/>
          <p:nvPr/>
        </p:nvSpPr>
        <p:spPr>
          <a:xfrm>
            <a:off x="685800" y="1032696"/>
            <a:ext cx="6096000" cy="461665"/>
          </a:xfrm>
          <a:prstGeom prst="rect">
            <a:avLst/>
          </a:prstGeom>
          <a:noFill/>
        </p:spPr>
        <p:txBody>
          <a:bodyPr wrap="square">
            <a:spAutoFit/>
          </a:bodyPr>
          <a:lstStyle/>
          <a:p>
            <a:pPr>
              <a:buNone/>
            </a:pPr>
            <a:r>
              <a:rPr lang="en-US" sz="2400" b="1" dirty="0">
                <a:effectLst/>
                <a:latin typeface="Calibri" panose="020F0502020204030204" pitchFamily="34" charset="0"/>
                <a:ea typeface="Times New Roman" panose="02020603050405020304" pitchFamily="18" charset="0"/>
                <a:cs typeface="Times New Roman" panose="02020603050405020304" pitchFamily="18" charset="0"/>
              </a:rPr>
              <a:t>Wednesday, 30 September  </a:t>
            </a:r>
            <a:endParaRPr lang="en-GB" sz="2400" dirty="0">
              <a:effectLst/>
              <a:latin typeface="Verdana" panose="020B060403050404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6188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582C71A-736F-1FCB-1FA2-4CE1776AE465}"/>
              </a:ext>
            </a:extLst>
          </p:cNvPr>
          <p:cNvSpPr>
            <a:spLocks noGrp="1"/>
          </p:cNvSpPr>
          <p:nvPr>
            <p:ph type="body" sz="quarter" idx="10"/>
          </p:nvPr>
        </p:nvSpPr>
        <p:spPr/>
        <p:txBody>
          <a:bodyPr/>
          <a:lstStyle/>
          <a:p>
            <a:r>
              <a:rPr lang="en-GB" dirty="0"/>
              <a:t>Group Work</a:t>
            </a:r>
          </a:p>
        </p:txBody>
      </p:sp>
      <p:sp>
        <p:nvSpPr>
          <p:cNvPr id="3" name="Content Placeholder 2">
            <a:extLst>
              <a:ext uri="{FF2B5EF4-FFF2-40B4-BE49-F238E27FC236}">
                <a16:creationId xmlns:a16="http://schemas.microsoft.com/office/drawing/2014/main" id="{1712B1AE-4403-AF51-21F7-C28AE313D56D}"/>
              </a:ext>
            </a:extLst>
          </p:cNvPr>
          <p:cNvSpPr>
            <a:spLocks noGrp="1"/>
          </p:cNvSpPr>
          <p:nvPr>
            <p:ph sz="quarter" idx="11"/>
          </p:nvPr>
        </p:nvSpPr>
        <p:spPr>
          <a:xfrm>
            <a:off x="386861" y="1147762"/>
            <a:ext cx="11418277" cy="4562475"/>
          </a:xfrm>
        </p:spPr>
        <p:txBody>
          <a:bodyPr/>
          <a:lstStyle/>
          <a:p>
            <a:r>
              <a:rPr lang="en-GB" sz="2000" b="1" dirty="0"/>
              <a:t>Determine what the group should, e.g.:</a:t>
            </a:r>
            <a:endParaRPr lang="en-GB" sz="2000" dirty="0"/>
          </a:p>
          <a:p>
            <a:pPr lvl="0"/>
            <a:r>
              <a:rPr lang="en-GB" sz="2000" dirty="0"/>
              <a:t>Lead – facilitate discussions and prepare lightweight common outputs; </a:t>
            </a:r>
          </a:p>
          <a:p>
            <a:pPr lvl="0"/>
            <a:r>
              <a:rPr lang="en-GB" sz="2000" dirty="0"/>
              <a:t>Support – contribute to relevant EEA and Eionet initiatives; </a:t>
            </a:r>
          </a:p>
          <a:p>
            <a:pPr lvl="0"/>
            <a:r>
              <a:rPr lang="en-GB" sz="2000" dirty="0"/>
              <a:t>Connect – link members with similar needs and experience; </a:t>
            </a:r>
          </a:p>
          <a:p>
            <a:pPr lvl="0"/>
            <a:r>
              <a:rPr lang="en-GB" sz="2000" dirty="0"/>
              <a:t>Monitor – follow relevant developments and inform members; </a:t>
            </a:r>
          </a:p>
          <a:p>
            <a:pPr lvl="0"/>
            <a:r>
              <a:rPr lang="en-GB" sz="2000" dirty="0"/>
              <a:t>Not undertake – formal governance, mandatory implementation, procurement or operational system delivery.</a:t>
            </a:r>
          </a:p>
          <a:p>
            <a:endParaRPr lang="en-GB" dirty="0"/>
          </a:p>
        </p:txBody>
      </p:sp>
      <p:sp>
        <p:nvSpPr>
          <p:cNvPr id="4" name="Text Placeholder 3">
            <a:extLst>
              <a:ext uri="{FF2B5EF4-FFF2-40B4-BE49-F238E27FC236}">
                <a16:creationId xmlns:a16="http://schemas.microsoft.com/office/drawing/2014/main" id="{D1BA7B06-BE7E-6CE3-5646-C6DABB557124}"/>
              </a:ext>
            </a:extLst>
          </p:cNvPr>
          <p:cNvSpPr>
            <a:spLocks noGrp="1"/>
          </p:cNvSpPr>
          <p:nvPr>
            <p:ph type="body" sz="quarter" idx="12"/>
          </p:nvPr>
        </p:nvSpPr>
        <p:spPr/>
        <p:txBody>
          <a:bodyPr/>
          <a:lstStyle/>
          <a:p>
            <a:endParaRPr lang="en-GB"/>
          </a:p>
        </p:txBody>
      </p:sp>
    </p:spTree>
    <p:extLst>
      <p:ext uri="{BB962C8B-B14F-4D97-AF65-F5344CB8AC3E}">
        <p14:creationId xmlns:p14="http://schemas.microsoft.com/office/powerpoint/2010/main" val="3596704524"/>
      </p:ext>
    </p:extLst>
  </p:cSld>
  <p:clrMapOvr>
    <a:masterClrMapping/>
  </p:clrMapOvr>
</p:sld>
</file>

<file path=ppt/theme/theme1.xml><?xml version="1.0" encoding="utf-8"?>
<a:theme xmlns:a="http://schemas.openxmlformats.org/drawingml/2006/main" name="18_Section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pen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04F3A3E2BB1DA4AB1BFDBF3956E9014" ma:contentTypeVersion="20" ma:contentTypeDescription="Create a new document." ma:contentTypeScope="" ma:versionID="aa21d7ddcdc218bc2f98124c0ce3910a">
  <xsd:schema xmlns:xsd="http://www.w3.org/2001/XMLSchema" xmlns:xs="http://www.w3.org/2001/XMLSchema" xmlns:p="http://schemas.microsoft.com/office/2006/metadata/properties" xmlns:ns2="0f6cf646-3f47-4639-ab1a-910193be0788" xmlns:ns3="ce9c421d-e5c4-4d07-9374-0aa16904a551" targetNamespace="http://schemas.microsoft.com/office/2006/metadata/properties" ma:root="true" ma:fieldsID="49be3fc9677335d879a559f9a0b852b6" ns2:_="" ns3:_="">
    <xsd:import namespace="0f6cf646-3f47-4639-ab1a-910193be0788"/>
    <xsd:import namespace="ce9c421d-e5c4-4d07-9374-0aa16904a551"/>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LengthInSeconds" minOccurs="0"/>
                <xsd:element ref="ns2:SharedWithUsers" minOccurs="0"/>
                <xsd:element ref="ns2:SharedWithDetails" minOccurs="0"/>
                <xsd:element ref="ns3:MediaServiceAutoKeyPoints" minOccurs="0"/>
                <xsd:element ref="ns3:MediaServiceKeyPoints" minOccurs="0"/>
                <xsd:element ref="ns3:MediaServiceObjectDetectorVersion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SearchProperties" minOccurs="0"/>
                <xsd:element ref="ns3:MediaServiceLocation" minOccurs="0"/>
                <xsd:element ref="ns3:Statusofdocument"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6cf646-3f47-4639-ab1a-910193be0788"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1d843f02-7b13-4fe8-8847-fcb649af8a5e}" ma:internalName="TaxCatchAll" ma:showField="CatchAllData" ma:web="0f6cf646-3f47-4639-ab1a-910193be078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e9c421d-e5c4-4d07-9374-0aa16904a55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de42cbc-566b-46c9-aea5-a71cdcd36d8f" ma:termSetId="09814cd3-568e-fe90-9814-8d621ff8fb84" ma:anchorId="fba54fb3-c3e1-fe81-a776-ca4b69148c4d" ma:open="true" ma:isKeyword="false">
      <xsd:complexType>
        <xsd:sequence>
          <xsd:element ref="pc:Terms" minOccurs="0" maxOccurs="1"/>
        </xsd:sequence>
      </xsd:complexType>
    </xsd:element>
    <xsd:element name="MediaServiceOCR" ma:index="23" nillable="true" ma:displayName="Extracted Text" ma:internalName="MediaServiceOCR" ma:readOnly="true">
      <xsd:simpleType>
        <xsd:restriction base="dms:Note">
          <xsd:maxLength value="255"/>
        </xsd:restriction>
      </xsd:simpleType>
    </xsd:element>
    <xsd:element name="MediaServiceGenerationTime" ma:index="24" nillable="true" ma:displayName="MediaServiceGenerationTime" ma:hidden="true" ma:internalName="MediaServiceGenerationTime" ma:readOnly="true">
      <xsd:simpleType>
        <xsd:restriction base="dms:Text"/>
      </xsd:simpleType>
    </xsd:element>
    <xsd:element name="MediaServiceEventHashCode" ma:index="25" nillable="true" ma:displayName="MediaServiceEventHashCode" ma:hidden="true" ma:internalName="MediaServiceEventHashCode"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Location" ma:index="27" nillable="true" ma:displayName="Location" ma:indexed="true" ma:internalName="MediaServiceLocation" ma:readOnly="true">
      <xsd:simpleType>
        <xsd:restriction base="dms:Text"/>
      </xsd:simpleType>
    </xsd:element>
    <xsd:element name="Statusofdocument" ma:index="28" nillable="true" ma:displayName="Status of document" ma:format="Dropdown" ma:internalName="Statusofdocument">
      <xsd:simpleType>
        <xsd:restriction base="dms:Text">
          <xsd:maxLength value="255"/>
        </xsd:restriction>
      </xsd:simpleType>
    </xsd:element>
    <xsd:element name="MediaServiceBillingMetadata" ma:index="29"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TaxCatchAll xmlns="0f6cf646-3f47-4639-ab1a-910193be0788" xsi:nil="true"/>
    <lcf76f155ced4ddcb4097134ff3c332f xmlns="ce9c421d-e5c4-4d07-9374-0aa16904a551">
      <Terms xmlns="http://schemas.microsoft.com/office/infopath/2007/PartnerControls"/>
    </lcf76f155ced4ddcb4097134ff3c332f>
    <Statusofdocument xmlns="ce9c421d-e5c4-4d07-9374-0aa16904a551" xsi:nil="true"/>
    <_dlc_DocId xmlns="0f6cf646-3f47-4639-ab1a-910193be0788">EIONET-1333827832-65679</_dlc_DocId>
    <_dlc_DocIdUrl xmlns="0f6cf646-3f47-4639-ab1a-910193be0788">
      <Url>https://eea1.sharepoint.com/teams/-EXT-Eionet/_layouts/15/DocIdRedir.aspx?ID=EIONET-1333827832-65679</Url>
      <Description>EIONET-1333827832-65679</Description>
    </_dlc_DocIdUrl>
  </documentManagement>
</p:properties>
</file>

<file path=customXml/itemProps1.xml><?xml version="1.0" encoding="utf-8"?>
<ds:datastoreItem xmlns:ds="http://schemas.openxmlformats.org/officeDocument/2006/customXml" ds:itemID="{7AEB2609-FE5F-4B38-AD11-1A42E05DC1E2}"/>
</file>

<file path=customXml/itemProps2.xml><?xml version="1.0" encoding="utf-8"?>
<ds:datastoreItem xmlns:ds="http://schemas.openxmlformats.org/officeDocument/2006/customXml" ds:itemID="{C324CB5B-3C08-46EA-B990-96CE81C45F83}"/>
</file>

<file path=customXml/itemProps3.xml><?xml version="1.0" encoding="utf-8"?>
<ds:datastoreItem xmlns:ds="http://schemas.openxmlformats.org/officeDocument/2006/customXml" ds:itemID="{653A6EC3-830C-4024-81C1-D3B8A6BCAE23}"/>
</file>

<file path=customXml/itemProps4.xml><?xml version="1.0" encoding="utf-8"?>
<ds:datastoreItem xmlns:ds="http://schemas.openxmlformats.org/officeDocument/2006/customXml" ds:itemID="{18E900A4-F768-4941-9071-4C2C286CBF5A}"/>
</file>

<file path=docProps/app.xml><?xml version="1.0" encoding="utf-8"?>
<Properties xmlns="http://schemas.openxmlformats.org/officeDocument/2006/extended-properties" xmlns:vt="http://schemas.openxmlformats.org/officeDocument/2006/docPropsVTypes">
  <TotalTime>359</TotalTime>
  <Words>466</Words>
  <Application>Microsoft Office PowerPoint</Application>
  <PresentationFormat>Widescreen</PresentationFormat>
  <Paragraphs>85</Paragraphs>
  <Slides>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Arial</vt:lpstr>
      <vt:lpstr>Calibri</vt:lpstr>
      <vt:lpstr>Verdana</vt:lpstr>
      <vt:lpstr>18_Sections</vt:lpstr>
      <vt:lpstr>PowerPoint Presentation</vt:lpstr>
      <vt:lpstr>PowerPoint Presentation</vt:lpstr>
      <vt:lpstr>PowerPoint Presentation</vt:lpstr>
      <vt:lpstr>PowerPoint Presentation</vt:lpstr>
      <vt:lpstr>PowerPoint Presentation</vt:lpstr>
    </vt:vector>
  </TitlesOfParts>
  <Company>European Environment Agency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Sune Djurhuus</dc:creator>
  <cp:lastModifiedBy>Sune Djurhuus</cp:lastModifiedBy>
  <cp:revision>1</cp:revision>
  <dcterms:created xsi:type="dcterms:W3CDTF">2026-09-29T05:35:26Z</dcterms:created>
  <dcterms:modified xsi:type="dcterms:W3CDTF">2026-10-22T07:24:01Z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1f08a4a-3048-4b8f-8eeb-74c828f94533_Enabled">
    <vt:lpwstr>true</vt:lpwstr>
  </property>
  <property fmtid="{D5CDD505-2E9C-101B-9397-08002B2CF9AE}" pid="3" name="MSIP_Label_b1f08a4a-3048-4b8f-8eeb-74c828f94533_SetDate">
    <vt:lpwstr>2026-09-29T05:51:58Z</vt:lpwstr>
  </property>
  <property fmtid="{D5CDD505-2E9C-101B-9397-08002B2CF9AE}" pid="4" name="MSIP_Label_b1f08a4a-3048-4b8f-8eeb-74c828f94533_Method">
    <vt:lpwstr>Standard</vt:lpwstr>
  </property>
  <property fmtid="{D5CDD505-2E9C-101B-9397-08002B2CF9AE}" pid="5" name="MSIP_Label_b1f08a4a-3048-4b8f-8eeb-74c828f94533_Name">
    <vt:lpwstr>NORMAL</vt:lpwstr>
  </property>
  <property fmtid="{D5CDD505-2E9C-101B-9397-08002B2CF9AE}" pid="6" name="MSIP_Label_b1f08a4a-3048-4b8f-8eeb-74c828f94533_SiteId">
    <vt:lpwstr>be2e7bea-b493-4de5-bbc5-8b4a6a235600</vt:lpwstr>
  </property>
  <property fmtid="{D5CDD505-2E9C-101B-9397-08002B2CF9AE}" pid="7" name="MSIP_Label_b1f08a4a-3048-4b8f-8eeb-74c828f94533_ActionId">
    <vt:lpwstr>9e277fe2-f4ac-4214-b7cd-23b3d14affe4</vt:lpwstr>
  </property>
  <property fmtid="{D5CDD505-2E9C-101B-9397-08002B2CF9AE}" pid="8" name="MSIP_Label_b1f08a4a-3048-4b8f-8eeb-74c828f94533_ContentBits">
    <vt:lpwstr>0</vt:lpwstr>
  </property>
  <property fmtid="{D5CDD505-2E9C-101B-9397-08002B2CF9AE}" pid="9" name="MSIP_Label_b1f08a4a-3048-4b8f-8eeb-74c828f94533_Tag">
    <vt:lpwstr>10, 3, 0, 1</vt:lpwstr>
  </property>
  <property fmtid="{D5CDD505-2E9C-101B-9397-08002B2CF9AE}" pid="10" name="ContentTypeId">
    <vt:lpwstr>0x010100B04F3A3E2BB1DA4AB1BFDBF3956E9014</vt:lpwstr>
  </property>
  <property fmtid="{D5CDD505-2E9C-101B-9397-08002B2CF9AE}" pid="11" name="_dlc_DocIdItemGuid">
    <vt:lpwstr>50251f57-287f-4b8c-9ecc-b6415955654d</vt:lpwstr>
  </property>
  <property fmtid="{D5CDD505-2E9C-101B-9397-08002B2CF9AE}" pid="12" name="MediaServiceImageTags">
    <vt:lpwstr/>
  </property>
</Properties>
</file>