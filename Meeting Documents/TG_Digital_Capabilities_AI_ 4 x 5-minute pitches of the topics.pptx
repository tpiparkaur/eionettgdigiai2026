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D9CEBE-0C34-414E-9D74-15F5F39E9C12}" v="2" dt="2026-09-29T08:15:42.345"/>
    <p1510:client id="{55D898AE-0807-9ED0-F62E-6143D1B51A9F}" v="2494" dt="2026-09-29T09:30:21.896"/>
    <p1510:client id="{8170D2FE-7C24-1099-D598-E96332440D9E}" v="11" dt="2026-09-29T12:23:49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73C6D-3F21-4743-9E70-4DF3A299BC1D}" type="datetimeFigureOut">
              <a:t>10/20/2026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10C2F7-580D-448B-98F5-D7E0F0C4BF51}" type="slidenum"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370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>
                <a:solidFill>
                  <a:srgbClr val="273746"/>
                </a:solidFill>
              </a:rPr>
              <a:t>...</a:t>
            </a:r>
            <a:endParaRPr lang="it-IT"/>
          </a:p>
          <a:p>
            <a:pPr marL="228600" indent="-228600">
              <a:buAutoNum type="arabicParenR"/>
            </a:pPr>
            <a:r>
              <a:rPr lang="en-US">
                <a:solidFill>
                  <a:srgbClr val="273746"/>
                </a:solidFill>
                <a:ea typeface="Calibri"/>
                <a:cs typeface="Calibri"/>
              </a:rPr>
              <a:t>…</a:t>
            </a:r>
            <a:endParaRPr lang="en-US">
              <a:solidFill>
                <a:srgbClr val="000000"/>
              </a:solidFill>
            </a:endParaRPr>
          </a:p>
          <a:p>
            <a:pPr marL="228600" indent="-228600">
              <a:buAutoNum type="arabicParenR"/>
            </a:pPr>
            <a:r>
              <a:rPr lang="en-US">
                <a:solidFill>
                  <a:srgbClr val="273746"/>
                </a:solidFill>
              </a:rPr>
              <a:t>By mapping actual organization and needs in public administrations both in terms of existing structures and skills and propose relevant solutions to fill potential gaps.</a:t>
            </a:r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,Sans-Serif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 marL="228600" indent="-228600">
              <a:buAutoNum type="arabicParenR"/>
            </a:pPr>
            <a:endParaRPr lang="en-US">
              <a:solidFill>
                <a:srgbClr val="273746"/>
              </a:solidFill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0C2F7-580D-448B-98F5-D7E0F0C4BF51}" type="slidenum"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417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>
                <a:ea typeface="Calibri"/>
                <a:cs typeface="Calibri"/>
              </a:rPr>
              <a:t>…</a:t>
            </a:r>
            <a:endParaRPr lang="it-IT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Calibri"/>
                <a:cs typeface="Calibri"/>
              </a:rPr>
              <a:t>2) </a:t>
            </a:r>
            <a:r>
              <a:rPr lang="en-US">
                <a:solidFill>
                  <a:srgbClr val="000000"/>
                </a:solidFill>
              </a:rPr>
              <a:t>...</a:t>
            </a:r>
            <a:r>
              <a:rPr lang="en-GB">
                <a:solidFill>
                  <a:srgbClr val="273746"/>
                </a:solidFill>
              </a:rPr>
              <a:t>monitoring, with an appropriate update frequency emerging issues, rising necessities and new states of the art. Checking principles, ethics and human centricity together with the environment</a:t>
            </a:r>
            <a:endParaRPr lang="en-US"/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GB">
                <a:solidFill>
                  <a:srgbClr val="273746"/>
                </a:solidFill>
                <a:ea typeface="Calibri"/>
                <a:cs typeface="Calibri"/>
              </a:rPr>
              <a:t>3) </a:t>
            </a:r>
            <a:r>
              <a:rPr lang="en-GB">
                <a:solidFill>
                  <a:srgbClr val="273746"/>
                </a:solidFill>
              </a:rPr>
              <a:t>...where existing environmental monitoring facilities serve the evaluation and mitigation of environmental impact and risks of large computational facilities and AI factories across Europe.</a:t>
            </a:r>
            <a:endParaRPr lang="en-GB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AutoNum type="arabicParenR"/>
            </a:pPr>
            <a:endParaRPr lang="en-GB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AutoNum type="arabicParenR"/>
            </a:pPr>
            <a:endParaRPr lang="en-GB">
              <a:solidFill>
                <a:srgbClr val="273746"/>
              </a:solidFill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10C2F7-580D-448B-98F5-D7E0F0C4BF51}" type="slidenum"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159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96012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800" b="1">
                <a:solidFill>
                  <a:srgbClr val="18324A"/>
                </a:solidFill>
                <a:latin typeface="Aptos"/>
              </a:rPr>
              <a:t>Four themes · four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52728"/>
            <a:ext cx="877824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0">
                <a:solidFill>
                  <a:srgbClr val="667784"/>
                </a:solidFill>
                <a:latin typeface="Aptos"/>
              </a:rPr>
              <a:t>16 short slides for the four topic pitches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75488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21207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4 ×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65376"/>
            <a:ext cx="18288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1">
                <a:solidFill>
                  <a:srgbClr val="0B8C95"/>
                </a:solidFill>
                <a:latin typeface="Aptos"/>
              </a:rPr>
              <a:t>Workshop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810512"/>
            <a:ext cx="877824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1">
                <a:solidFill>
                  <a:srgbClr val="18324A"/>
                </a:solidFill>
                <a:latin typeface="Aptos"/>
              </a:rPr>
              <a:t>Turn priority questions into a clear mission, realistic targets, concrete outcomes and a lightweight roadmap to the end of 2028.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862072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184708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18324A"/>
                </a:solidFill>
                <a:latin typeface="Aptos"/>
              </a:rPr>
              <a:t>Strategy, Governance
and Organisation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2862072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2463" y="3035808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3429000"/>
            <a:ext cx="184708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18324A"/>
                </a:solidFill>
                <a:latin typeface="Aptos"/>
              </a:rPr>
              <a:t>People, Skills and
Ways of 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862072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3035808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3429000"/>
            <a:ext cx="184708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18324A"/>
                </a:solidFill>
                <a:latin typeface="Aptos"/>
              </a:rPr>
              <a:t>AI Applications and
Value Creation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862072"/>
            <a:ext cx="224028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08592" y="3035808"/>
            <a:ext cx="502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429000"/>
            <a:ext cx="184708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18324A"/>
                </a:solidFill>
                <a:latin typeface="Aptos"/>
              </a:rPr>
              <a:t>Data, Technologies
and 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572000"/>
            <a:ext cx="4206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18324A"/>
                </a:solidFill>
                <a:latin typeface="Aptos"/>
              </a:rPr>
              <a:t>Each topic is presented through the same four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74920"/>
            <a:ext cx="34747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" y="5020056"/>
            <a:ext cx="212140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18324A"/>
                </a:solidFill>
                <a:latin typeface="Aptos"/>
              </a:rPr>
              <a:t>Where are we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93008" y="5074920"/>
            <a:ext cx="34747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5020056"/>
            <a:ext cx="212140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18324A"/>
                </a:solidFill>
                <a:latin typeface="Aptos"/>
              </a:rPr>
              <a:t>Trends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5074920"/>
            <a:ext cx="34747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5020056"/>
            <a:ext cx="212140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18324A"/>
                </a:solidFill>
                <a:latin typeface="Aptos"/>
              </a:rPr>
              <a:t>Proposed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5074920"/>
            <a:ext cx="34747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5020056"/>
            <a:ext cx="2121408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b="1">
                <a:solidFill>
                  <a:srgbClr val="18324A"/>
                </a:solidFill>
                <a:latin typeface="Aptos"/>
              </a:rPr>
              <a:t>Potential outcomes &amp;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650992"/>
            <a:ext cx="105156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50" b="0">
                <a:solidFill>
                  <a:srgbClr val="667784"/>
                </a:solidFill>
                <a:latin typeface="Aptos"/>
              </a:rPr>
              <a:t>One slide per question keeps the 5-minute topic pitches simple, visual and easy to facilitate.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5AE77C-37AD-E28A-7715-180B6CD6A625}"/>
              </a:ext>
            </a:extLst>
          </p:cNvPr>
          <p:cNvSpPr txBox="1"/>
          <p:nvPr/>
        </p:nvSpPr>
        <p:spPr>
          <a:xfrm>
            <a:off x="1847574" y="3039829"/>
            <a:ext cx="66216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sk-SK" sz="1100" b="1">
                <a:solidFill>
                  <a:srgbClr val="0B8C95"/>
                </a:solidFill>
                <a:latin typeface="Aptos"/>
              </a:rPr>
              <a:t>Annalisa</a:t>
            </a:r>
            <a:endParaRPr sz="1100" b="1">
              <a:solidFill>
                <a:srgbClr val="0B8C95"/>
              </a:solidFill>
              <a:latin typeface="Apto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BBA82A-64E1-0030-C1AB-09D4626CEC70}"/>
              </a:ext>
            </a:extLst>
          </p:cNvPr>
          <p:cNvSpPr txBox="1"/>
          <p:nvPr/>
        </p:nvSpPr>
        <p:spPr>
          <a:xfrm>
            <a:off x="4805592" y="3030766"/>
            <a:ext cx="66216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sk-SK" sz="1100" b="1">
                <a:solidFill>
                  <a:srgbClr val="0B8C95"/>
                </a:solidFill>
                <a:latin typeface="Aptos"/>
              </a:rPr>
              <a:t>Simon</a:t>
            </a:r>
            <a:endParaRPr sz="1100" b="1">
              <a:solidFill>
                <a:srgbClr val="0B8C95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D796B5-65D4-8B85-F251-7795F68EFDB6}"/>
              </a:ext>
            </a:extLst>
          </p:cNvPr>
          <p:cNvSpPr txBox="1"/>
          <p:nvPr/>
        </p:nvSpPr>
        <p:spPr>
          <a:xfrm>
            <a:off x="7668799" y="3053626"/>
            <a:ext cx="66216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sk-SK" sz="1100" b="1">
                <a:solidFill>
                  <a:srgbClr val="0B8C95"/>
                </a:solidFill>
                <a:latin typeface="Aptos"/>
              </a:rPr>
              <a:t>Gregor</a:t>
            </a:r>
            <a:endParaRPr sz="1100" b="1">
              <a:solidFill>
                <a:srgbClr val="0B8C95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A0CA94-1025-8E79-A795-1BCBF43674A0}"/>
              </a:ext>
            </a:extLst>
          </p:cNvPr>
          <p:cNvSpPr txBox="1"/>
          <p:nvPr/>
        </p:nvSpPr>
        <p:spPr>
          <a:xfrm>
            <a:off x="10562098" y="3053626"/>
            <a:ext cx="662162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sk-SK" sz="1100" b="1">
                <a:solidFill>
                  <a:srgbClr val="0B8C95"/>
                </a:solidFill>
                <a:latin typeface="Aptos"/>
              </a:rPr>
              <a:t>Martin</a:t>
            </a:r>
            <a:endParaRPr sz="1100" b="1">
              <a:solidFill>
                <a:srgbClr val="0B8C9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Strategy, Governance and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Strategic and organisational foundation for the other three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Where are 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86501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,Sans-Serif"/>
              <a:buChar char="•"/>
            </a:pPr>
            <a:r>
              <a:rPr lang="it-IT" sz="1900">
                <a:solidFill>
                  <a:srgbClr val="273746"/>
                </a:solidFill>
                <a:latin typeface="Aptos"/>
              </a:rPr>
              <a:t>Strategic and governance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documents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already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exist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 in EU and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outside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, with a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certain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level</a:t>
            </a:r>
            <a:r>
              <a:rPr lang="it-IT" sz="1900">
                <a:solidFill>
                  <a:srgbClr val="273746"/>
                </a:solidFill>
                <a:latin typeface="Aptos"/>
              </a:rPr>
              <a:t> of </a:t>
            </a:r>
            <a:r>
              <a:rPr lang="it-IT" sz="1900" err="1">
                <a:solidFill>
                  <a:srgbClr val="273746"/>
                </a:solidFill>
                <a:latin typeface="Aptos"/>
              </a:rPr>
              <a:t>fragmentation</a:t>
            </a:r>
            <a:endParaRPr lang="it-IT" sz="1900" err="1">
              <a:solidFill>
                <a:srgbClr val="000000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,Sans-Serif"/>
              <a:buChar char="•"/>
            </a:pPr>
            <a:r>
              <a:rPr lang="en-US" sz="1900">
                <a:solidFill>
                  <a:srgbClr val="273746"/>
                </a:solidFill>
                <a:latin typeface="Aptos"/>
              </a:rPr>
              <a:t>Guiding principles: how much data and AI one's overlap? Is it correct to consider AI simply “software”?</a:t>
            </a:r>
            <a:endParaRPr lang="it-IT" sz="1900">
              <a:solidFill>
                <a:srgbClr val="000000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>
                <a:solidFill>
                  <a:srgbClr val="273746"/>
                </a:solidFill>
                <a:latin typeface="Aptos"/>
              </a:rPr>
              <a:t>The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advancements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 on strategy and governance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maturity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are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diversified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among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member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states</a:t>
            </a:r>
            <a:endParaRPr lang="it-IT" sz="1850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>
                <a:solidFill>
                  <a:srgbClr val="273746"/>
                </a:solidFill>
                <a:latin typeface="Aptos"/>
              </a:rPr>
              <a:t>On Organization: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not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all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the countries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have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a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dedicated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office for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Digitalization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and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it-IT" sz="1650" b="1">
                <a:solidFill>
                  <a:srgbClr val="18324A"/>
                </a:solidFill>
                <a:latin typeface="Aptos"/>
              </a:rPr>
              <a:t>How the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environmental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matter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is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considered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across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present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regulations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?</a:t>
            </a:r>
            <a:endParaRPr lang="it-IT" sz="1650" b="1">
              <a:solidFill>
                <a:srgbClr val="18324A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Strategy, Governance and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Strategic and organisational foundation for the other three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216761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>
                <a:solidFill>
                  <a:srgbClr val="273746"/>
                </a:solidFill>
                <a:latin typeface="Aptos"/>
              </a:rPr>
              <a:t>Technology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goes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faster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than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regulation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 err="1">
                <a:solidFill>
                  <a:srgbClr val="273746"/>
                </a:solidFill>
                <a:latin typeface="Aptos"/>
              </a:rPr>
              <a:t>Overabundance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of tools –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that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we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use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hapazardly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>
                <a:solidFill>
                  <a:srgbClr val="273746"/>
                </a:solidFill>
                <a:latin typeface="Aptos"/>
              </a:rPr>
              <a:t>Once risks and challenges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have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been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evaluated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,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regulations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(Strategies and governance tools) are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necessary</a:t>
            </a:r>
            <a:endParaRPr lang="it-IT" sz="1850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it-IT" sz="1850">
                <a:solidFill>
                  <a:srgbClr val="273746"/>
                </a:solidFill>
                <a:latin typeface="Aptos"/>
              </a:rPr>
              <a:t>People, ethics and the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environment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are the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three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pillars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on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which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a fair strategy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could</a:t>
            </a:r>
            <a:r>
              <a:rPr lang="it-IT" sz="1850">
                <a:solidFill>
                  <a:srgbClr val="273746"/>
                </a:solidFill>
                <a:latin typeface="Aptos"/>
              </a:rPr>
              <a:t> be </a:t>
            </a:r>
            <a:r>
              <a:rPr lang="it-IT" sz="1850" err="1">
                <a:solidFill>
                  <a:srgbClr val="273746"/>
                </a:solidFill>
                <a:latin typeface="Aptos"/>
              </a:rPr>
              <a:t>based</a:t>
            </a:r>
            <a:endParaRPr lang="it-IT" sz="185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it-IT" sz="1650" b="1" err="1">
                <a:solidFill>
                  <a:srgbClr val="18324A"/>
                </a:solidFill>
                <a:latin typeface="Aptos"/>
              </a:rPr>
              <a:t>We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 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need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to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organize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tools and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competencies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,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we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need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the roots for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this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fast-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growing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Strategy, Governance and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Strategic and organisational foundation for the other three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Proposed targets to be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7155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 b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On strategy:</a:t>
            </a:r>
            <a:r>
              <a:rPr lang="en-US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Collecting the status and outlook of AI in environmental domain in Europe focusing on principles, ethics and environment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 b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On governance:</a:t>
            </a:r>
            <a:r>
              <a:rPr lang="en-US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 Understand how and in which measure Eionet can contribute with regulatory instruments to the European AI Strategy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 b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On </a:t>
            </a:r>
            <a:r>
              <a:rPr lang="en-US" sz="1850" b="1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organisation</a:t>
            </a:r>
            <a:r>
              <a:rPr lang="en-US" sz="1850" b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:</a:t>
            </a:r>
            <a:r>
              <a:rPr lang="en-US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 Filling gaps in Digital capabilities and AI application</a:t>
            </a:r>
            <a:endParaRPr lang="en-US" sz="1100">
              <a:solidFill>
                <a:srgbClr val="27374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it-IT" sz="1650" b="1" err="1">
                <a:solidFill>
                  <a:srgbClr val="18324A"/>
                </a:solidFill>
                <a:latin typeface="Aptos"/>
              </a:rPr>
              <a:t>What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two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or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three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strategic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changes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should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be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visible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by the end of 2028?</a:t>
            </a:r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Strategy, Governance and Organisation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Strategic and organisational foundation for the other three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600" b="1">
                <a:solidFill>
                  <a:srgbClr val="18324A"/>
                </a:solidFill>
                <a:latin typeface="Aptos"/>
              </a:rPr>
              <a:t>Potential outcomes </a:t>
            </a:r>
            <a:r>
              <a:rPr lang="en-US" sz="2600" b="1">
                <a:solidFill>
                  <a:srgbClr val="18324A"/>
                </a:solidFill>
                <a:latin typeface="Aptos"/>
              </a:rPr>
              <a:t>&amp;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83167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GB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Shared AI-for-environment vision document presenting the current landscape, emerging trends, common needs and outlook towards 2028</a:t>
            </a:r>
            <a:endParaRPr lang="it-IT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GB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Establishing an observatory on AI governance evolution for the environment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GB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European environmental monitoring network to monitor AI and large computational facilities 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lang="en-GB" sz="185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...just to mention some :-)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it-IT" sz="1650" b="1">
                <a:solidFill>
                  <a:srgbClr val="18324A"/>
                </a:solidFill>
                <a:latin typeface="Aptos"/>
              </a:rPr>
              <a:t>Do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we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want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 to share </a:t>
            </a:r>
            <a:r>
              <a:rPr lang="it-IT" sz="1650" b="1" err="1">
                <a:solidFill>
                  <a:srgbClr val="18324A"/>
                </a:solidFill>
                <a:latin typeface="Aptos"/>
              </a:rPr>
              <a:t>documents</a:t>
            </a:r>
            <a:r>
              <a:rPr lang="it-IT" sz="1650" b="1">
                <a:solidFill>
                  <a:srgbClr val="18324A"/>
                </a:solidFill>
                <a:latin typeface="Aptos"/>
              </a:rPr>
              <a:t>? Best practices? Experience and know-how?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People, Skills and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Build practical capability through peer learning, shared resources and new working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Where are 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334880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TG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survey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endParaRPr lang="de-DE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top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priorities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: Basic AI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literacy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· Knowledge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sharing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and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capacity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building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900">
                <a:solidFill>
                  <a:srgbClr val="273746"/>
                </a:solidFill>
                <a:latin typeface="Aptos"/>
                <a:ea typeface="+mn-lt"/>
                <a:cs typeface="+mn-lt"/>
              </a:rPr>
              <a:t>· New Roles &amp; </a:t>
            </a:r>
            <a:r>
              <a:rPr lang="de-DE" sz="190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responsibilities</a:t>
            </a:r>
            <a:endParaRPr lang="de-DE" err="1">
              <a:latin typeface="Aptos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45–55%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needing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support </a:t>
            </a:r>
            <a:endParaRPr lang="de-DE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de-DE" sz="1850">
                <a:latin typeface="Aptos"/>
                <a:ea typeface="+mn-lt"/>
                <a:cs typeface="+mn-lt"/>
              </a:rPr>
              <a:t>TG Workshop in June</a:t>
            </a:r>
            <a:endParaRPr lang="de-DE">
              <a:latin typeface="Aptos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Basic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literacy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scales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—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domain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skills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do not</a:t>
            </a:r>
            <a:endParaRPr lang="de-DE">
              <a:latin typeface="Aptos"/>
              <a:ea typeface="Calibri"/>
              <a:cs typeface="Calibri"/>
            </a:endParaRPr>
          </a:p>
          <a:p>
            <a:pPr marL="742950" lvl="1" indent="-285750">
              <a:buFont typeface="Arial"/>
              <a:buChar char="•"/>
            </a:pP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The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hard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part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: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judging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AI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output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not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using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tools</a:t>
            </a:r>
            <a:endParaRPr lang="de-DE"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Submitted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Use Cases: </a:t>
            </a:r>
            <a:r>
              <a:rPr lang="de-DE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SmartLab</a:t>
            </a:r>
            <a:r>
              <a:rPr lang="de-DE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(DE), Teams Helpdesk (EEA)</a:t>
            </a:r>
            <a:endParaRPr lang="de-DE">
              <a:latin typeface="Aptos"/>
            </a:endParaRPr>
          </a:p>
          <a:p>
            <a:pPr>
              <a:lnSpc>
                <a:spcPct val="108000"/>
              </a:lnSpc>
            </a:pPr>
            <a:endParaRPr lang="de-DE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endParaRPr lang="de-DE" sz="1850">
              <a:solidFill>
                <a:srgbClr val="273746"/>
              </a:solidFill>
              <a:latin typeface="Aptos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endParaRPr sz="185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What do members need — and what can they already offer?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People, Skills and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Build practical capability through peer learning, shared resources and new working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187051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buFont typeface="Arial"/>
              <a:buChar char="•"/>
            </a:pPr>
            <a:r>
              <a:rPr lang="sk-SK" sz="1850">
                <a:solidFill>
                  <a:srgbClr val="273746"/>
                </a:solidFill>
                <a:latin typeface="Aptos"/>
              </a:rPr>
              <a:t>AI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Act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makes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basic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AI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literacy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legal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duty</a:t>
            </a:r>
            <a:endParaRPr lang="de-DE" err="1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Central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training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capacity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often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cannot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or do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not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meet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demand</a:t>
            </a:r>
            <a:endParaRPr lang="sk-SK" err="1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buFont typeface="Arial"/>
              <a:buChar char="•"/>
            </a:pPr>
            <a:r>
              <a:rPr lang="sk-SK" sz="1850">
                <a:solidFill>
                  <a:srgbClr val="273746"/>
                </a:solidFill>
                <a:latin typeface="Aptos"/>
              </a:rPr>
              <a:t>New AI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roles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emerge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—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unplanned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and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unnamed</a:t>
            </a:r>
            <a:endParaRPr lang="sk-SK" err="1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Existing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roles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change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faster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than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job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profiles</a:t>
            </a:r>
            <a:endParaRPr lang="sk-SK" err="1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Fear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of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job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loss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is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part of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the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conversation</a:t>
            </a:r>
            <a:endParaRPr lang="sk-SK" err="1">
              <a:latin typeface="Aptos"/>
              <a:ea typeface="Calibri"/>
              <a:cs typeface="Calibri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endParaRPr lang="sk-SK" sz="185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79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650" b="1">
                <a:solidFill>
                  <a:srgbClr val="18324A"/>
                </a:solidFill>
                <a:latin typeface="Aptos"/>
              </a:rPr>
              <a:t>What has to change in how we work, not just in what we know?</a:t>
            </a:r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People, Skills and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Build practical capability through peer learning, shared resources and new working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Proposed targets to be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05678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A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shared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picture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of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what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the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network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needs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who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can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help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and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which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AI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roles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exist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where</a:t>
            </a:r>
            <a:endParaRPr lang="de-DE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A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common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AI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literacy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baseline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every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agency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can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point to</a:t>
            </a:r>
            <a:endParaRPr lang="sk-SK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sk-SK" sz="1900">
                <a:solidFill>
                  <a:srgbClr val="273746"/>
                </a:solidFill>
                <a:latin typeface="Aptos"/>
              </a:rPr>
              <a:t>A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peer-learning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series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that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: X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sessions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by 2028,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each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leaving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reusable</a:t>
            </a:r>
            <a:r>
              <a:rPr lang="sk-SK" sz="1900">
                <a:solidFill>
                  <a:srgbClr val="273746"/>
                </a:solidFill>
                <a:latin typeface="Aptos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</a:rPr>
              <a:t>material</a:t>
            </a:r>
            <a:endParaRPr lang="sk-SK" sz="1900" err="1">
              <a:solidFill>
                <a:srgbClr val="000000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sk-SK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  <a:p>
            <a:pPr>
              <a:lnSpc>
                <a:spcPct val="108000"/>
              </a:lnSpc>
              <a:spcAft>
                <a:spcPts val="900"/>
              </a:spcAft>
            </a:pPr>
            <a:endParaRPr lang="sk-SK" sz="185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0525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650" b="1">
                <a:solidFill>
                  <a:srgbClr val="18324A"/>
                </a:solidFill>
                <a:latin typeface="Aptos"/>
              </a:rPr>
              <a:t>Which skills do agencies need to use AI responsibly and confidently by 2028?</a:t>
            </a:r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People, Skills and Ways of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Build practical capability through peer learning, shared resources and new working practices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Potential outcomes &amp;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3298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7432" tIns="18288" rIns="27432" bIns="18288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Capability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Map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—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who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needs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what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who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can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help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which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roles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exist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where</a:t>
            </a:r>
            <a:endParaRPr lang="de-DE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AI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Literacy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Reference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—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what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everyone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should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know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, plus role-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specific</a:t>
            </a:r>
            <a:r>
              <a:rPr lang="sk-SK" sz="1850">
                <a:solidFill>
                  <a:srgbClr val="273746"/>
                </a:solidFill>
                <a:latin typeface="Aptos"/>
                <a:ea typeface="+mn-lt"/>
                <a:cs typeface="+mn-lt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  <a:ea typeface="+mn-lt"/>
                <a:cs typeface="+mn-lt"/>
              </a:rPr>
              <a:t>modules</a:t>
            </a:r>
            <a:endParaRPr lang="sk-SK" err="1">
              <a:latin typeface="Aptos"/>
            </a:endParaRPr>
          </a:p>
          <a:p>
            <a:pPr marL="285750" indent="-285750">
              <a:buFont typeface="Arial,Sans-Serif"/>
              <a:buChar char="•"/>
            </a:pP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Peer-Learning</a:t>
            </a:r>
            <a:r>
              <a:rPr lang="sk-SK" sz="190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Series</a:t>
            </a:r>
            <a:r>
              <a:rPr lang="sk-SK" sz="190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— X </a:t>
            </a: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sessions</a:t>
            </a:r>
            <a:r>
              <a:rPr lang="sk-SK" sz="190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by 2028, </a:t>
            </a: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hosted</a:t>
            </a:r>
            <a:r>
              <a:rPr lang="sk-SK" sz="190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by </a:t>
            </a: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members</a:t>
            </a:r>
            <a:r>
              <a:rPr lang="sk-SK" sz="1900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 </a:t>
            </a:r>
            <a:r>
              <a:rPr lang="sk-SK" sz="1900" err="1">
                <a:solidFill>
                  <a:srgbClr val="273746"/>
                </a:solidFill>
                <a:latin typeface="Aptos"/>
                <a:ea typeface="Calibri"/>
                <a:cs typeface="Calibri"/>
              </a:rPr>
              <a:t>themselves</a:t>
            </a:r>
            <a:endParaRPr lang="sk-SK" sz="1900" err="1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sk-SK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sk-SK" sz="1850">
              <a:solidFill>
                <a:srgbClr val="273746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Start small: what could we actually run with voluntary contributions?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AI Applications and 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Prioritise concrete problems and expected value — not particular tools or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Where are 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831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AI needs a solid data foundation to produce reliable and meaningful results – even with established standards, member states still provide their data in different forms and quality</a:t>
            </a:r>
            <a:endParaRPr lang="sk-SK" sz="1850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various projects try to remedy this and build solutions for data </a:t>
            </a:r>
            <a:r>
              <a:rPr lang="en-US" sz="1850" err="1">
                <a:solidFill>
                  <a:srgbClr val="273746"/>
                </a:solidFill>
                <a:latin typeface="Aptos"/>
              </a:rPr>
              <a:t>harmonisation</a:t>
            </a:r>
            <a:r>
              <a:rPr lang="en-US" sz="1850">
                <a:solidFill>
                  <a:srgbClr val="273746"/>
                </a:solidFill>
                <a:latin typeface="Aptos"/>
              </a:rPr>
              <a:t> and </a:t>
            </a:r>
            <a:r>
              <a:rPr lang="en-US" sz="1850" err="1">
                <a:solidFill>
                  <a:srgbClr val="273746"/>
                </a:solidFill>
                <a:latin typeface="Aptos"/>
              </a:rPr>
              <a:t>mobilisation</a:t>
            </a:r>
            <a:endParaRPr lang="sk-SK" sz="1850" err="1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Common AI strategy is missing from EU down to MS and organisational level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still strong dependency on (US or Chinese) vendors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Which existing or proposed use cases are worth sharing?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AI Applications and 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Prioritise concrete problems and expected value — not particular tools or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313912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industry is moving from individual vibe coded solutions towards agentic open platforms using protocols that AI agents understand (Agent2Agent protocols and Enterprise security policy and integration)</a:t>
            </a:r>
            <a:endParaRPr lang="en-US"/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Local and open models gain traction and become more powerful, also vendor-supported (Gemini, Qwen,…) solutions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Hardware (NVIDIA, Apple) is moving AI capabilities from the data center to the edge -&gt; independence and privacy.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endParaRPr lang="en-US" sz="185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How do we distinguish interesting demos from scalable value?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AI Applications and 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Prioritise concrete problems and expected value — not particular tools or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Proposed targets to be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63963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identify limits and barriers to AI adoption in your current environment, considering:</a:t>
            </a:r>
            <a:endParaRPr lang="sk-SK" sz="1850">
              <a:solidFill>
                <a:srgbClr val="273746"/>
              </a:solidFill>
              <a:latin typeface="Aptos"/>
            </a:endParaRPr>
          </a:p>
          <a:p>
            <a:pPr marL="800100" lvl="1" indent="-342900">
              <a:lnSpc>
                <a:spcPct val="108000"/>
              </a:lnSpc>
              <a:spcAft>
                <a:spcPts val="900"/>
              </a:spcAft>
              <a:buFont typeface="Courier New"/>
              <a:buChar char="o"/>
            </a:pPr>
            <a:r>
              <a:rPr lang="en-US" sz="1850">
                <a:solidFill>
                  <a:srgbClr val="273746"/>
                </a:solidFill>
                <a:latin typeface="Aptos"/>
              </a:rPr>
              <a:t>AI policies (too restrictive or too broad?)</a:t>
            </a:r>
          </a:p>
          <a:p>
            <a:pPr marL="800100" lvl="1" indent="-342900">
              <a:lnSpc>
                <a:spcPct val="108000"/>
              </a:lnSpc>
              <a:spcAft>
                <a:spcPts val="900"/>
              </a:spcAft>
              <a:buFont typeface="Courier New"/>
              <a:buChar char="o"/>
            </a:pPr>
            <a:r>
              <a:rPr lang="en-US" sz="1850">
                <a:solidFill>
                  <a:srgbClr val="273746"/>
                </a:solidFill>
                <a:latin typeface="Aptos"/>
              </a:rPr>
              <a:t>Data management (silos or APIs? Formats?)</a:t>
            </a:r>
          </a:p>
          <a:p>
            <a:pPr marL="800100" lvl="1" indent="-342900">
              <a:lnSpc>
                <a:spcPct val="108000"/>
              </a:lnSpc>
              <a:spcAft>
                <a:spcPts val="900"/>
              </a:spcAft>
              <a:buFont typeface="Courier New"/>
              <a:buChar char="o"/>
            </a:pPr>
            <a:r>
              <a:rPr lang="en-US" sz="1850">
                <a:solidFill>
                  <a:srgbClr val="273746"/>
                </a:solidFill>
                <a:latin typeface="Aptos"/>
              </a:rPr>
              <a:t>Inhouse AI competency and current efforts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en-US" sz="1850">
                <a:solidFill>
                  <a:srgbClr val="273746"/>
                </a:solidFill>
                <a:latin typeface="Aptos"/>
              </a:rPr>
              <a:t>Picture a realistic framework (</a:t>
            </a:r>
            <a:r>
              <a:rPr lang="en-US" sz="1850" err="1">
                <a:solidFill>
                  <a:srgbClr val="273746"/>
                </a:solidFill>
                <a:latin typeface="Aptos"/>
              </a:rPr>
              <a:t>organisational</a:t>
            </a:r>
            <a:r>
              <a:rPr lang="en-US" sz="1850">
                <a:solidFill>
                  <a:srgbClr val="273746"/>
                </a:solidFill>
                <a:latin typeface="Aptos"/>
              </a:rPr>
              <a:t> and practical) for AI adoption and productive use in the next 2-3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What should Eionet be able to compare and prioritise consistently?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AI Applications and Value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Prioritise concrete problems and expected value — not particular tools or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Potential outcomes &amp;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816352"/>
            <a:ext cx="6812280" cy="252421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established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organisational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policies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that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enable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productive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but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safe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use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of AI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Inhouse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exchange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regarding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needs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,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efforts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and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solutions</a:t>
            </a: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Identify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2-3 prime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use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cases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(end-to-end)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that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could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act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as a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best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practice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example</a:t>
            </a:r>
            <a:endParaRPr lang="sk-SK" sz="1850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lang="sk-SK" sz="1850" err="1">
                <a:solidFill>
                  <a:srgbClr val="273746"/>
                </a:solidFill>
                <a:latin typeface="Aptos"/>
              </a:rPr>
              <a:t>Collect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lessons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learned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,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engage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in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active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exchange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between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EIONET and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inhouse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AI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practitioneers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and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stake</a:t>
            </a:r>
            <a:r>
              <a:rPr lang="sk-SK" sz="1850">
                <a:solidFill>
                  <a:srgbClr val="273746"/>
                </a:solidFill>
                <a:latin typeface="Aptos"/>
              </a:rPr>
              <a:t> </a:t>
            </a:r>
            <a:r>
              <a:rPr lang="sk-SK" sz="1850" err="1">
                <a:solidFill>
                  <a:srgbClr val="273746"/>
                </a:solidFill>
                <a:latin typeface="Aptos"/>
              </a:rPr>
              <a:t>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2834640"/>
            <a:ext cx="2514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WORKSHOP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246120"/>
            <a:ext cx="2450592" cy="1463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18324A"/>
                </a:solidFill>
                <a:latin typeface="Aptos"/>
              </a:rPr>
              <a:t>Which common template or framework would save members time?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992624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0">
                <a:solidFill>
                  <a:srgbClr val="667784"/>
                </a:solidFill>
                <a:latin typeface="Aptos"/>
              </a:rPr>
              <a:t>Keep it practical · keep it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Data, Technologies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Create the enabling conditions for useful, responsible and reusable AI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Where are we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7095744" cy="2808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600" b="1">
                <a:solidFill>
                  <a:srgbClr val="0B8C95"/>
                </a:solidFill>
                <a:latin typeface="Aptos"/>
              </a:rPr>
              <a:t>Data – </a:t>
            </a:r>
            <a:r>
              <a:rPr lang="en-GB" sz="1600">
                <a:solidFill>
                  <a:srgbClr val="273746"/>
                </a:solidFill>
                <a:latin typeface="Aptos"/>
              </a:rPr>
              <a:t>Rich environmental data already exist (Eionet reporting, INSPIRE, Copernicus), but quality, documentation, licensing and AI-readiness vary widely. Controversial cases of data usage for model learning.</a:t>
            </a:r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600" b="1">
                <a:solidFill>
                  <a:srgbClr val="0B8C95"/>
                </a:solidFill>
                <a:latin typeface="Aptos"/>
              </a:rPr>
              <a:t>Technologies – </a:t>
            </a:r>
            <a:r>
              <a:rPr lang="en-GB" sz="1600">
                <a:solidFill>
                  <a:srgbClr val="273746"/>
                </a:solidFill>
                <a:latin typeface="Aptos"/>
              </a:rPr>
              <a:t>Tools and models are adopted project by project; the link between use-case needs and what technologies can realistically deliver is often unclear. US models closed, Chinese are more open.</a:t>
            </a:r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600" b="1">
                <a:solidFill>
                  <a:srgbClr val="0B8C95"/>
                </a:solidFill>
                <a:latin typeface="Aptos"/>
              </a:rPr>
              <a:t>Infrastructure – </a:t>
            </a:r>
            <a:r>
              <a:rPr lang="en-GB" sz="1600">
                <a:solidFill>
                  <a:srgbClr val="273746"/>
                </a:solidFill>
                <a:latin typeface="Aptos"/>
              </a:rPr>
              <a:t>Compute, platforms and deployment capacity are uneven </a:t>
            </a:r>
            <a:r>
              <a:rPr lang="sk-SK" sz="1600">
                <a:solidFill>
                  <a:srgbClr val="273746"/>
                </a:solidFill>
                <a:latin typeface="Aptos"/>
              </a:rPr>
              <a:t>on global, EU level</a:t>
            </a:r>
            <a:r>
              <a:rPr lang="en-GB" sz="1600">
                <a:solidFill>
                  <a:srgbClr val="273746"/>
                </a:solidFill>
                <a:latin typeface="Aptos"/>
              </a:rPr>
              <a:t>; national and European assets are hard to discover, compare and reuse.</a:t>
            </a:r>
            <a:r>
              <a:rPr lang="sk-SK" sz="1600">
                <a:solidFill>
                  <a:srgbClr val="273746"/>
                </a:solidFill>
                <a:latin typeface="Aptos"/>
              </a:rPr>
              <a:t> </a:t>
            </a:r>
            <a:endParaRPr lang="en-GB" sz="1600">
              <a:solidFill>
                <a:srgbClr val="273746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Lens Graphic" descr="Stocktake graphic: readiness of data, technologies and infrastructure, with available assets and ga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20" y="2706624"/>
            <a:ext cx="2707800" cy="2798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Data, Technologies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Create the enabling conditions for useful, responsible and reusable AI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6812280" cy="2808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Data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The focus shifts from open data to AI-ready data: richer metadata, semantics and governance, with European data spaces setting common rules.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Technologies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Open and local models, Earth-observation foundation models and agentic tools on open protocols gain ground, reducing vendor lock-in.</a:t>
            </a:r>
            <a:r>
              <a:rPr lang="sk-SK" sz="1700">
                <a:solidFill>
                  <a:srgbClr val="273746"/>
                </a:solidFill>
                <a:latin typeface="Aptos"/>
              </a:rPr>
              <a:t>  </a:t>
            </a:r>
            <a:endParaRPr lang="en-GB" sz="1700">
              <a:solidFill>
                <a:srgbClr val="273746"/>
              </a:solidFill>
              <a:latin typeface="Aptos"/>
            </a:endParaRP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Infrastructure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Shared cloud and HPC capacity grows (e.g. EuroHPC AI Factories, DestinE); security, sovereignty, lifecycle and energy use become core concerns.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Lens Graphic" descr="Key shifts: open data to AI-ready data, closed tools to open models, siloed IT to shared compu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20" y="2706624"/>
            <a:ext cx="2707800" cy="2798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Data, Technologies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Create the enabling conditions for useful, responsible and reusable AI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Proposed targets to be achieved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6812280" cy="2533963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Data – </a:t>
            </a:r>
            <a:r>
              <a:rPr lang="sk-SK" sz="1700">
                <a:solidFill>
                  <a:srgbClr val="273746"/>
                </a:solidFill>
                <a:latin typeface="Aptos"/>
              </a:rPr>
              <a:t>TG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 can assess and improve the AI-readiness of their priority environmental datasets using a common, lightweight set of criteria.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Technologies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A shared view of proven technologies, standards and reusable components, mapped to priority use cases, so solutions are not reinvented.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Infrastructure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A clear picture of available national and European cloud, HPC and platform capacity, the main gaps, and realistic routes for members to access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Lens Graphic" descr="Targets for 2028: common data criteria, shared technology map, clear access rou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20" y="2706624"/>
            <a:ext cx="2707800" cy="2798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4630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1">
                <a:solidFill>
                  <a:srgbClr val="0B8C95"/>
                </a:solidFill>
                <a:latin typeface="Aptos"/>
              </a:rPr>
              <a:t>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9555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Data, Technologies and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9326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30" b="0">
                <a:solidFill>
                  <a:srgbClr val="667784"/>
                </a:solidFill>
                <a:latin typeface="Aptos"/>
              </a:rPr>
              <a:t>Create the enabling conditions for useful, responsible and reusable AI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95560" y="457200"/>
            <a:ext cx="1188720" cy="292608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5560" y="502920"/>
            <a:ext cx="11887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 /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731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3000" b="1">
                <a:solidFill>
                  <a:srgbClr val="0B8C95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56231"/>
            <a:ext cx="59436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600" b="1">
                <a:solidFill>
                  <a:srgbClr val="18324A"/>
                </a:solidFill>
                <a:latin typeface="Aptos"/>
              </a:rPr>
              <a:t>Potential outcomes &amp; 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42032"/>
            <a:ext cx="7498079" cy="3127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6812280" cy="28086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Data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AI Data Readiness &amp; Governance Framework: criteria, a simple self-assessment template and </a:t>
            </a:r>
            <a:r>
              <a:rPr lang="sk-SK" sz="1700">
                <a:solidFill>
                  <a:srgbClr val="273746"/>
                </a:solidFill>
                <a:latin typeface="Aptos"/>
              </a:rPr>
              <a:t>relevant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 examples </a:t>
            </a:r>
            <a:r>
              <a:rPr lang="sk-SK" sz="1700">
                <a:solidFill>
                  <a:srgbClr val="273746"/>
                </a:solidFill>
                <a:latin typeface="Aptos"/>
              </a:rPr>
              <a:t>for data assets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Technologies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Technology Reference Overview: curated architectures, standards, models and reusable components, each linked to use cases where it works.</a:t>
            </a:r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Clr>
                <a:srgbClr val="0B8C95"/>
              </a:buClr>
              <a:buFont typeface="Arial"/>
              <a:buChar char="•"/>
            </a:pPr>
            <a:r>
              <a:rPr lang="en-GB" sz="1700" b="1">
                <a:solidFill>
                  <a:srgbClr val="0B8C95"/>
                </a:solidFill>
                <a:latin typeface="Aptos"/>
              </a:rPr>
              <a:t>Infrastructure – </a:t>
            </a:r>
            <a:r>
              <a:rPr lang="en-GB" sz="1700">
                <a:solidFill>
                  <a:srgbClr val="273746"/>
                </a:solidFill>
                <a:latin typeface="Aptos"/>
              </a:rPr>
              <a:t>Infrastructure Access Guide: national and European compute and platform options with access routes, conditions and members' lessons learned.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542032"/>
            <a:ext cx="3063240" cy="3127248"/>
          </a:xfrm>
          <a:prstGeom prst="roundRect">
            <a:avLst/>
          </a:prstGeom>
          <a:solidFill>
            <a:srgbClr val="E8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Lens Graphic" descr="Deliverables: Data Readiness Framework, Technology Reference Overview, Infrastructure Access Gu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920" y="2706624"/>
            <a:ext cx="2707800" cy="27980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58368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Where are we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4710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4710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1052" y="5943600"/>
            <a:ext cx="2626614" cy="301752"/>
          </a:xfrm>
          <a:prstGeom prst="round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31052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667784"/>
                </a:solidFill>
                <a:latin typeface="Aptos"/>
              </a:rPr>
              <a:t>Targets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7394" y="5943600"/>
            <a:ext cx="2626614" cy="301752"/>
          </a:xfrm>
          <a:prstGeom prst="roundRect">
            <a:avLst/>
          </a:prstGeom>
          <a:solidFill>
            <a:srgbClr val="0B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7394" y="5961888"/>
            <a:ext cx="2626614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30" b="1">
                <a:solidFill>
                  <a:srgbClr val="FFFFFF"/>
                </a:solidFill>
                <a:latin typeface="Aptos"/>
              </a:rPr>
              <a:t>Outcomes &amp;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27080" cy="10972"/>
          </a:xfrm>
          <a:prstGeom prst="rect">
            <a:avLst/>
          </a:prstGeom>
          <a:solidFill>
            <a:srgbClr val="D7E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438912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50" b="0">
                <a:solidFill>
                  <a:srgbClr val="667784"/>
                </a:solidFill>
                <a:latin typeface="Aptos"/>
              </a:rPr>
              <a:t>TG Digital Capabilities and AI · Copenhagen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01384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50" b="0">
                <a:solidFill>
                  <a:srgbClr val="667784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6cf646-3f47-4639-ab1a-910193be0788" xsi:nil="true"/>
    <lcf76f155ced4ddcb4097134ff3c332f xmlns="ce9c421d-e5c4-4d07-9374-0aa16904a551">
      <Terms xmlns="http://schemas.microsoft.com/office/infopath/2007/PartnerControls"/>
    </lcf76f155ced4ddcb4097134ff3c332f>
    <Statusofdocument xmlns="ce9c421d-e5c4-4d07-9374-0aa16904a551" xsi:nil="true"/>
    <_dlc_DocId xmlns="0f6cf646-3f47-4639-ab1a-910193be0788">EIONET-1333827832-65628</_dlc_DocId>
    <_dlc_DocIdUrl xmlns="0f6cf646-3f47-4639-ab1a-910193be0788">
      <Url>https://eea1.sharepoint.com/teams/-EXT-Eionet/_layouts/15/DocIdRedir.aspx?ID=EIONET-1333827832-65628</Url>
      <Description>EIONET-1333827832-65628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4F3A3E2BB1DA4AB1BFDBF3956E9014" ma:contentTypeVersion="20" ma:contentTypeDescription="Create a new document." ma:contentTypeScope="" ma:versionID="aa21d7ddcdc218bc2f98124c0ce3910a">
  <xsd:schema xmlns:xsd="http://www.w3.org/2001/XMLSchema" xmlns:xs="http://www.w3.org/2001/XMLSchema" xmlns:p="http://schemas.microsoft.com/office/2006/metadata/properties" xmlns:ns2="0f6cf646-3f47-4639-ab1a-910193be0788" xmlns:ns3="ce9c421d-e5c4-4d07-9374-0aa16904a551" targetNamespace="http://schemas.microsoft.com/office/2006/metadata/properties" ma:root="true" ma:fieldsID="49be3fc9677335d879a559f9a0b852b6" ns2:_="" ns3:_="">
    <xsd:import namespace="0f6cf646-3f47-4639-ab1a-910193be0788"/>
    <xsd:import namespace="ce9c421d-e5c4-4d07-9374-0aa16904a55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Location" minOccurs="0"/>
                <xsd:element ref="ns3:Statusofdocument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cf646-3f47-4639-ab1a-910193be0788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d843f02-7b13-4fe8-8847-fcb649af8a5e}" ma:internalName="TaxCatchAll" ma:showField="CatchAllData" ma:web="0f6cf646-3f47-4639-ab1a-910193be0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c421d-e5c4-4d07-9374-0aa16904a5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de42cbc-566b-46c9-aea5-a71cdcd36d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Statusofdocument" ma:index="28" nillable="true" ma:displayName="Status of document" ma:format="Dropdown" ma:internalName="Statusofdocument">
      <xsd:simpleType>
        <xsd:restriction base="dms:Text">
          <xsd:maxLength value="255"/>
        </xsd:restriction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F0FED-C1E5-4295-A413-D86B5B62DBEE}">
  <ds:schemaRefs>
    <ds:schemaRef ds:uri="0f6cf646-3f47-4639-ab1a-910193be0788"/>
    <ds:schemaRef ds:uri="ce9c421d-e5c4-4d07-9374-0aa16904a55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563FEE1-C358-4433-BA14-5119CCCE93A8}">
  <ds:schemaRefs>
    <ds:schemaRef ds:uri="0f6cf646-3f47-4639-ab1a-910193be0788"/>
    <ds:schemaRef ds:uri="ce9c421d-e5c4-4d07-9374-0aa16904a5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4328F77-E9F6-438B-A3FB-71BD8806CADB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D03F9C4F-838A-4939-8B36-D1DB23182A1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 Digital Capabilities and AI – Four Topics Workshop Template</dc:title>
  <dc:subject>Copenhagen workshop – 16-slide topic pitch structure</dc:subject>
  <dc:creator>TG DC &amp; AI</dc:creator>
  <cp:keywords/>
  <dc:description>generated using python-pptx</dc:description>
  <cp:revision>2</cp:revision>
  <dcterms:created xsi:type="dcterms:W3CDTF">2013-01-27T09:14:16Z</dcterms:created>
  <dcterms:modified xsi:type="dcterms:W3CDTF">2026-10-20T15:03:01Z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0x010100B04F3A3E2BB1DA4AB1BFDBF3956E9014</vt:lpwstr>
  </property>
  <property fmtid="{D5CDD505-2E9C-101B-9397-08002B2CF9AE}" pid="3" name="_dlc_DocIdItemGuid">
    <vt:lpwstr>5af66e21-d57a-432e-b494-2c046dd5ba14</vt:lpwstr>
  </property>
  <property fmtid="{D5CDD505-2E9C-101B-9397-08002B2CF9AE}" pid="4" name="MediaServiceImageTags">
    <vt:lpwstr/>
  </property>
  <property fmtid="{D5CDD505-2E9C-101B-9397-08002B2CF9AE}" pid="5" name="MSIP_Label_b1f08a4a-3048-4b8f-8eeb-74c828f94533_SetDate">
    <vt:lpwstr>2026-09-22T08:00:16Z</vt:lpwstr>
  </property>
  <property fmtid="{D5CDD505-2E9C-101B-9397-08002B2CF9AE}" pid="6" name="MSIP_Label_b1f08a4a-3048-4b8f-8eeb-74c828f94533_ContentBits">
    <vt:lpwstr>0</vt:lpwstr>
  </property>
  <property fmtid="{D5CDD505-2E9C-101B-9397-08002B2CF9AE}" pid="7" name="MSIP_Label_b1f08a4a-3048-4b8f-8eeb-74c828f94533_SiteId">
    <vt:lpwstr>be2e7bea-b493-4de5-bbc5-8b4a6a235600</vt:lpwstr>
  </property>
  <property fmtid="{D5CDD505-2E9C-101B-9397-08002B2CF9AE}" pid="8" name="MSIP_Label_b1f08a4a-3048-4b8f-8eeb-74c828f94533_Method">
    <vt:lpwstr>Standard</vt:lpwstr>
  </property>
  <property fmtid="{D5CDD505-2E9C-101B-9397-08002B2CF9AE}" pid="9" name="MSIP_Label_b1f08a4a-3048-4b8f-8eeb-74c828f94533_Name">
    <vt:lpwstr>NORMAL</vt:lpwstr>
  </property>
  <property fmtid="{D5CDD505-2E9C-101B-9397-08002B2CF9AE}" pid="10" name="MSIP_Label_b1f08a4a-3048-4b8f-8eeb-74c828f94533_Enabled">
    <vt:lpwstr>true</vt:lpwstr>
  </property>
  <property fmtid="{D5CDD505-2E9C-101B-9397-08002B2CF9AE}" pid="11" name="MSIP_Label_b1f08a4a-3048-4b8f-8eeb-74c828f94533_Tag">
    <vt:lpwstr>10, 3, 0, 2</vt:lpwstr>
  </property>
  <property fmtid="{D5CDD505-2E9C-101B-9397-08002B2CF9AE}" pid="12" name="MSIP_Label_b1f08a4a-3048-4b8f-8eeb-74c828f94533_ActionId">
    <vt:lpwstr>a2fac1c6-63e2-48b6-9a35-ddc2f4b4b958</vt:lpwstr>
  </property>
</Properties>
</file>